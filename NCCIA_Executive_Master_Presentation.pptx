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25415" y="704088"/>
            <a:ext cx="2340864" cy="2340864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567" y="77724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54680"/>
            <a:ext cx="103628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4AF37"/>
                </a:solidFill>
                <a:latin typeface="Georgia"/>
              </a:defRPr>
            </a:pPr>
            <a:r>
              <a:t>NATIONAL CYBER CRIME INVESTIGATION AGENCY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قومی سائبر کرائم تفتیش ایجنسی — حکومت پاکستان</a:t>
            </a:r>
          </a:p>
          <a:p>
            <a:pPr algn="ctr">
              <a:spcBef>
                <a:spcPts val="1200"/>
              </a:spcBef>
              <a:defRPr sz="2000" b="1">
                <a:solidFill>
                  <a:srgbClr val="00B4D8"/>
                </a:solidFill>
                <a:latin typeface="Segoe UI"/>
              </a:defRPr>
            </a:pPr>
            <a:r>
              <a:t>Enterprise Digital Case Management &amp; Forensic Intelligence System</a:t>
            </a:r>
          </a:p>
          <a:p>
            <a:pPr algn="ctr"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High-Concurrency Architecture (10M+ Ready) | Client-Side AI WASM OCR | End-to-End Investigation Lifecycle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4AF37"/>
                </a:solidFill>
                <a:latin typeface="Georgia"/>
              </a:defRPr>
            </a:pPr>
            <a:r>
              <a:t>Executive Overview &amp; Core Pillars</a:t>
            </a:r>
          </a:p>
          <a:p>
            <a:pPr>
              <a:spcBef>
                <a:spcPts val="400"/>
              </a:spcBef>
              <a:defRPr sz="1300">
                <a:solidFill>
                  <a:srgbClr val="00B4D8"/>
                </a:solidFill>
                <a:latin typeface="Segoe UI"/>
              </a:defRPr>
            </a:pPr>
            <a:r>
              <a:t>Modernizing National Cyber Crime Investigation with Next-Gen Intelligence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875862" cy="914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54480"/>
            <a:ext cx="2560320" cy="1554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4AF37"/>
                </a:solidFill>
                <a:latin typeface="Segoe UI"/>
              </a:defRPr>
            </a:pPr>
            <a:r>
              <a:t>1-Second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AI Neural OCR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Zero server CPU load with browser-native WASM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554480"/>
            <a:ext cx="2560320" cy="1554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6916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4AF37"/>
                </a:solidFill>
                <a:latin typeface="Segoe UI"/>
              </a:defRPr>
            </a:pPr>
            <a:r>
              <a:t>10 Lakh+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Historical Ingestion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Automated Circle ➔ IO ➔ Moharar folder ingestion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554480"/>
            <a:ext cx="2560320" cy="1554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6916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4AF37"/>
                </a:solidFill>
                <a:latin typeface="Segoe UI"/>
              </a:defRPr>
            </a:pPr>
            <a:r>
              <a:t>10M+ Req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Scale Optimized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B-Tree composite indexed database &amp; Redis caching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554480"/>
            <a:ext cx="2560320" cy="1554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6916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4AF37"/>
                </a:solidFill>
                <a:latin typeface="Segoe UI"/>
              </a:defRPr>
            </a:pPr>
            <a:r>
              <a:t>100% Zero-Scroll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Responsive Design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Pixel-perfect experience across mobile, tablet, laptop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37560"/>
            <a:ext cx="5257800" cy="3017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2044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🛡️ National Security 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886200"/>
            <a:ext cx="4800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Digital Sovereign Platform: Complete digital transformation from physical paper records to high-security electronic custody.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Rapid Public Redressal: Automated 80mm receipt generation &amp; real-time WhatsApp case tracking for citizens.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Forensic Integrity: Strict chain-of-custody tracking with cryptographic MD5/SHA256 evidence hashing.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337560"/>
            <a:ext cx="5257800" cy="30175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52044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Segoe UI"/>
              </a:defRPr>
            </a:pPr>
            <a:r>
              <a:t>⚡ Key Architectural Highlights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886200"/>
            <a:ext cx="4800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Zero-Lag Query Engine: Full-table scan elimination with multi-column composite indexing.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Anti-Brute Force Security: 6-attempt throttle, real proxy IP extraction, and automated spoof detection.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Unified Official Identity: Authentic circular NCCIA seal on all 80mm thermal slips, A4 legal reports, and case diaries.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4AF37"/>
                </a:solidFill>
                <a:latin typeface="Georgia"/>
              </a:defRPr>
            </a:pPr>
            <a:r>
              <a:t>AI-Powered PDF OCR Neural Engine</a:t>
            </a:r>
          </a:p>
          <a:p>
            <a:pPr>
              <a:spcBef>
                <a:spcPts val="400"/>
              </a:spcBef>
              <a:defRPr sz="1300">
                <a:solidFill>
                  <a:srgbClr val="00B4D8"/>
                </a:solidFill>
                <a:latin typeface="Segoe UI"/>
              </a:defRPr>
            </a:pPr>
            <a:r>
              <a:t>Zero Server Storage Quota Overhead · 1-Second Auto-Fill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875862" cy="914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54480"/>
            <a:ext cx="5257800" cy="4800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🧠 Browser-Native WebAssembly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Client-Side Neural Execution: Tesseract.js v7 running inside browser WebAssembly (WASM), rendering 200 DPI anti-aliased canvas frames on user GPU/CPU.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Zero Hosting Disk Quota: Zero Python/Conda dependencies on hosting server — 100% immune to shared hosting user block limit errors.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Multi-Page Intelligent Parsing: Scans 40+ page CCW verification PDFs, extracting Complainant Name, CNIC, Phone, Address, Offence, Amount, and Accused Bank Accounts in 1 second.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Direct JSON Hydration: Instantly populates React state forms with clean formatting, auto-hyphenated CNIC, and structured accused bank tables.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54480"/>
            <a:ext cx="5257800" cy="4800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73736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Segoe UI"/>
              </a:defRPr>
            </a:pPr>
            <a:r>
              <a:t>📋 Auto-Extracted Intelligence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4884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🔹 Complainant Identity</a:t>
            </a:r>
            <a:br/>
            <a:r>
              <a:t>    Name, Father Name, CNIC (34100-XXXXXXX-X), Mobile No, Address, District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🔹 Case Classification</a:t>
            </a:r>
            <a:br/>
            <a:r>
              <a:t>    Offence Category (Financial Fraud, Harassment, PPC 414), Diary No, Report Date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🔹 Financial Trails</a:t>
            </a:r>
            <a:br/>
            <a:r>
              <a:t>    Amount defrauded, Sender Bank &amp; Account No, Receiver Bank &amp; IBAN Account No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🔹 Accused Profiles</a:t>
            </a:r>
            <a:br/>
            <a:r>
              <a:t>    Accused Name, Father Name, Contact, Social Media URLs, and CNIC/Passport details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🔹 Investigating Hierarchy</a:t>
            </a:r>
            <a:br/>
            <a:r>
              <a:t>    Circle Name, Verification Officer (VO), and Enquiry Officer (IO) assignments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4AF37"/>
                </a:solidFill>
                <a:latin typeface="Georgia"/>
              </a:defRPr>
            </a:pPr>
            <a:r>
              <a:t>10 Lakh Historical File Bulk Ingestion</a:t>
            </a:r>
          </a:p>
          <a:p>
            <a:pPr>
              <a:spcBef>
                <a:spcPts val="400"/>
              </a:spcBef>
              <a:defRPr sz="1300">
                <a:solidFill>
                  <a:srgbClr val="00B4D8"/>
                </a:solidFill>
                <a:latin typeface="Segoe UI"/>
              </a:defRPr>
            </a:pPr>
            <a:r>
              <a:t>High-Throughput In-Place Archival · Circle ➔ IO ➔ Moharar Hierarchy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875862" cy="914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54480"/>
            <a:ext cx="3383280" cy="4800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📁 Hierarchy Auto-Discovery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Recursive Path Scanner: Automatically parses directory structures like `Lahore/AD_Tanveer/Moharar_Cases/*.pdf`.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Entity Resolution: Maps folder names to Circles, Zones, and registered Police Officers.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Smart Deduplication: Prevents double-processing via tracking number and MD5 checksum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800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Segoe UI"/>
              </a:defRPr>
            </a:pPr>
            <a:r>
              <a:t>⚡ In-Place Zero-Copy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`--in-place` Mode: References historical PDFs directly at their original network storage location without file duplication.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Zero Storage Bloat: 10 Lakh files ingested without consuming extra disk gigabytes.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Batch Transaction Pipeline: Processes 5,000 files/minute with safe rollbacks and recovery logs.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800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373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📊 Progress &amp; Error Telemetry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4884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Live CLI &amp; Web Stats: Real-time progress bars, success counters, and failure diagnostic reports.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Automatic OCR Fallback: High-speed text layer extraction with fallback to OCR for scanned physical papers.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Audit Log Trail: Full database history recording ingestion timestamp, file size, and assigned officer.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4AF37"/>
                </a:solidFill>
                <a:latin typeface="Georgia"/>
              </a:defRPr>
            </a:pPr>
            <a:r>
              <a:t>End-to-End Investigation Lifecycle</a:t>
            </a:r>
          </a:p>
          <a:p>
            <a:pPr>
              <a:spcBef>
                <a:spcPts val="400"/>
              </a:spcBef>
              <a:defRPr sz="1300">
                <a:solidFill>
                  <a:srgbClr val="00B4D8"/>
                </a:solidFill>
                <a:latin typeface="Segoe UI"/>
              </a:defRPr>
            </a:pPr>
            <a:r>
              <a:t>6 Seamless Stages from Complaint Filing to Court Verdict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875862" cy="914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1691640" cy="4480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508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Registration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Desk Operator / PDF Auto-Fill</a:t>
            </a:r>
            <a:br/>
            <a:r>
              <a:t>80mm Slip &amp; WhatsApp Alert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1645920"/>
            <a:ext cx="1691640" cy="4480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82880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Segoe UI"/>
              </a:defRPr>
            </a:pPr>
            <a:r>
              <a:t>Stage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2194560"/>
            <a:ext cx="1508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Scrutiny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Circle Incharge Legal Scrutiny</a:t>
            </a:r>
            <a:br/>
            <a:r>
              <a:t>Assign Verification Officer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645920"/>
            <a:ext cx="1691640" cy="4480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82880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3" y="2194560"/>
            <a:ext cx="1508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Verification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VO Field Inquiry &amp; CDR Analysis</a:t>
            </a:r>
            <a:br/>
            <a:r>
              <a:t>4 Recommendation 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645920"/>
            <a:ext cx="1691640" cy="4480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5" y="182880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Stage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5" y="2194560"/>
            <a:ext cx="1508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Formal Enquiry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IO Formal Enquiry Registration</a:t>
            </a:r>
            <a:br/>
            <a:r>
              <a:t>Legal Notices (80mm/A4 QR)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1645920"/>
            <a:ext cx="1691640" cy="4480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182880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Segoe UI"/>
              </a:defRPr>
            </a:pPr>
            <a:r>
              <a:t>Stage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2194560"/>
            <a:ext cx="1508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Forensic Lab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Digital Forensics Unit Extraction</a:t>
            </a:r>
            <a:br/>
            <a:r>
              <a:t>Evidence Hash &amp; Lab 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645920"/>
            <a:ext cx="1691640" cy="4480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182880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Stage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194560"/>
            <a:ext cx="1508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Court Trial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FIR Case File &amp; Challan</a:t>
            </a:r>
            <a:br/>
            <a:r>
              <a:t>Court Verdict Tracking (Bail/Conv)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4AF37"/>
                </a:solidFill>
                <a:latin typeface="Georgia"/>
              </a:defRPr>
            </a:pPr>
            <a:r>
              <a:t>Stage 1 &amp; 2: Registration, Receipt &amp; Scrutiny</a:t>
            </a:r>
          </a:p>
          <a:p>
            <a:pPr>
              <a:spcBef>
                <a:spcPts val="400"/>
              </a:spcBef>
              <a:defRPr sz="1300">
                <a:solidFill>
                  <a:srgbClr val="00B4D8"/>
                </a:solidFill>
                <a:latin typeface="Segoe UI"/>
              </a:defRPr>
            </a:pPr>
            <a:r>
              <a:t>Citizen Experience · Quick Turnaround · Automated Notifications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875862" cy="914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54480"/>
            <a:ext cx="5257800" cy="4800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📝 Stage 1: Front Desk Registration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Walk-in / Online Filing: Operator enters complaint details or drops verification PDF report.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80mm Thermal Complaint Slip: Prints official 80mm thermal receipt with circular NCCIA emblem, Complaint No, Complainant CNIC, and assigned Verification Officer.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Citizen WhatsApp Integration: Instantly transmits WhatsApp receipt with tracking URL directly to citizen's mobile.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Live Tracking QR Code: Citizen can scan the QR code to check status on official portal.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54480"/>
            <a:ext cx="5257800" cy="4800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73736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Segoe UI"/>
              </a:defRPr>
            </a:pPr>
            <a:r>
              <a:t>⚖️ Stage 2: Circle Incharge Scrutiny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4884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Jurisdiction Verification: Assistant Director / DSP checks PECA 2016 / PPC crime sections.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Direct VO Assignment: Assigns complaint to field Verification Officer (VO) with priority tagging (High / Medium / Low).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Scrutiny Log &amp; Audit: Tracks time-to-assignment and scrutiny remarks in the permanent case audit trail.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4AF37"/>
                </a:solidFill>
                <a:latin typeface="Georgia"/>
              </a:defRPr>
            </a:pPr>
            <a:r>
              <a:t>Stage 3 &amp; 4: Field Verification &amp; Formal Enquiry</a:t>
            </a:r>
          </a:p>
          <a:p>
            <a:pPr>
              <a:spcBef>
                <a:spcPts val="400"/>
              </a:spcBef>
              <a:defRPr sz="1300">
                <a:solidFill>
                  <a:srgbClr val="00B4D8"/>
                </a:solidFill>
                <a:latin typeface="Segoe UI"/>
              </a:defRPr>
            </a:pPr>
            <a:r>
              <a:t>Evidence-Based Findings · Legal Notices · Case Diary Management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875862" cy="914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54480"/>
            <a:ext cx="5257800" cy="4800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🔍 Stage 3: Verification &amp; 4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🔹 Preliminary Field Inquiry: VO calls complainant, verifies accused bank accounts, and examines call records.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🔹 Recommendation 1 — Enquiry Registered: Sufficient digital evidence exists for formal criminal enquiry.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🔹 Recommendation 2 — Case Closure: Closed on lack of evidence, non-pursuance, or mutual settlement.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🔹 Recommendation 3 — Case Merge: Scammer already under investigation in an existing primary complaint.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🔹 Recommendation 4 — Transfer: Matter belongs to another Circle or external agency (FIA/NAB/Police).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54480"/>
            <a:ext cx="5257800" cy="4800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73736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📂 Stage 4: Formal Enquiry &amp; Legal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4884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🔹 Enquiry Number Allocation: Systematic numbering (e.g. #LHR-E-80519/26).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🔹 Statutory Appearance Notices: Generates Section 160 CrPC legal notices in 80mm thermal and A4 format with QR code verification.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🔹 Digital Case Diary (Zimni): IO records daily investigation developments, bank responses, and witness statements.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🔹 Final CFR Report: Case Final Report submitted to Incharge for FIR registration 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4AF37"/>
                </a:solidFill>
                <a:latin typeface="Georgia"/>
              </a:defRPr>
            </a:pPr>
            <a:r>
              <a:t>Stage 5 &amp; 6: Digital Forensics &amp; Court Trial</a:t>
            </a:r>
          </a:p>
          <a:p>
            <a:pPr>
              <a:spcBef>
                <a:spcPts val="400"/>
              </a:spcBef>
              <a:defRPr sz="1300">
                <a:solidFill>
                  <a:srgbClr val="00B4D8"/>
                </a:solidFill>
                <a:latin typeface="Segoe UI"/>
              </a:defRPr>
            </a:pPr>
            <a:r>
              <a:t>Chain of Custody · Lab Extraction · Prosecution &amp; Court Verdicts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875862" cy="914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54480"/>
            <a:ext cx="5257800" cy="4800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💻 Stage 5: Digital Forensic Lab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Device Ingestion &amp; Hashing: Physical intake of phones, hard drives, SIM cards with MD5/SHA256 hash calculation.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Isolated Lab Portal: Forensic examiners operate in a segregated portal for tamper-proof data extraction.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Forensic Examination Report: Digital evidence report directly attached to the IO's case file for prosecution.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54480"/>
            <a:ext cx="5257800" cy="4800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73736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Segoe UI"/>
              </a:defRPr>
            </a:pPr>
            <a:r>
              <a:t>⚖️ Stage 6: Case File (FIR) &amp; Court Trial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4884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FIR Registration: Formal Case File created upon established cyber crime offense.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Challan Submission: Prosecution branch tracks court hearings, IO appearance dates, and witness summons.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Court Verdicts Recording: Comprehensive tracking of final verdicts (Conviction, Acquittal, Bail Granted/Rejected, Fines).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4AF37"/>
                </a:solidFill>
                <a:latin typeface="Georgia"/>
              </a:defRPr>
            </a:pPr>
            <a:r>
              <a:t>Enterprise Security &amp; IP Audit Intelligence</a:t>
            </a:r>
          </a:p>
          <a:p>
            <a:pPr>
              <a:spcBef>
                <a:spcPts val="400"/>
              </a:spcBef>
              <a:defRPr sz="1300">
                <a:solidFill>
                  <a:srgbClr val="00B4D8"/>
                </a:solidFill>
                <a:latin typeface="Segoe UI"/>
              </a:defRPr>
            </a:pPr>
            <a:r>
              <a:t>Anti-Brute Force Protection · Real IP Detection · Zero Exposure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875862" cy="914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54480"/>
            <a:ext cx="5257800" cy="22402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🚫 Brute-Force Immunity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FFFFFF"/>
                </a:solidFill>
                <a:latin typeface="Segoe UI"/>
              </a:defRPr>
            </a:pPr>
            <a:r>
              <a:t>6-attempt/min rate limiting on login routes. Automated IP temporary lockouts against password guessing bots.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54480"/>
            <a:ext cx="5257800" cy="22402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73736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Segoe UI"/>
              </a:defRPr>
            </a:pPr>
            <a:r>
              <a:t>📡 Real IP &amp; Proxy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14884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FFFFFF"/>
                </a:solidFill>
                <a:latin typeface="Segoe UI"/>
              </a:defRPr>
            </a:pPr>
            <a:r>
              <a:t>Extracts origin ISP IP, Cloudflare `CF-Connecting-IP`, `X-Real-IP`, and detects VPN/Proxy spoofing.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57800" cy="22402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🛡️ RCE &amp; Upload Lockdown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FFFFFF"/>
                </a:solidFill>
                <a:latin typeface="Segoe UI"/>
              </a:defRPr>
            </a:pPr>
            <a:r>
              <a:t>Uploads folder strictly blocks script execution (`.php`, `.sh`, `.exe`). Magic-byte MIME verification.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4023360"/>
            <a:ext cx="5257800" cy="22402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420624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🔒 Zero-Exposure Hardening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61772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FFFFFF"/>
                </a:solidFill>
                <a:latin typeface="Segoe UI"/>
              </a:defRPr>
            </a:pPr>
            <a:r>
              <a:t>Strict `.htaccess` rules block access to `.env`, `.git`, database dumps, logs, and sensitive config 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4AF37"/>
                </a:solidFill>
                <a:latin typeface="Georgia"/>
              </a:defRPr>
            </a:pPr>
            <a:r>
              <a:t>Role-Based Access Control (RBAC) Hierarchy</a:t>
            </a:r>
          </a:p>
          <a:p>
            <a:pPr>
              <a:spcBef>
                <a:spcPts val="400"/>
              </a:spcBef>
              <a:defRPr sz="1300">
                <a:solidFill>
                  <a:srgbClr val="00B4D8"/>
                </a:solidFill>
                <a:latin typeface="Segoe UI"/>
              </a:defRPr>
            </a:pPr>
            <a:r>
              <a:t>Strict Data Isolation Across Circles &amp; Nationwide Command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875862" cy="914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54480"/>
            <a:ext cx="3429000" cy="22402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Desk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Front Desk Reception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New Complaints entry, PDF OCR auto-fill, 80mm slip printing, WhatsApp alert 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554480"/>
            <a:ext cx="3429000" cy="22402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73736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Verification Officer (VO)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10312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Field Verification Unit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Conducts preliminary verification, checks call/bank records, submits VO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554480"/>
            <a:ext cx="3429000" cy="22402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73736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Enquiry Officer (IO)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3" y="210312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Core Investigation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Manages formal enquiries, issues Section 160 notices, updates case diaries (Zimni).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29000" cy="22402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0624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Circle Incharge (AD/DSP)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Circle Command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Assigns cases, approves enquiry recommendations, reviews Circle KPIs.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4023360"/>
            <a:ext cx="3429000" cy="22402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420624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Forensic Specialist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57200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Digital Forensics Lab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Performs evidence acquisition, hash validation, and forensic report generation.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4023360"/>
            <a:ext cx="3429000" cy="22402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420624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Segoe UI"/>
              </a:defRPr>
            </a:pPr>
            <a:r>
              <a:t>Director General /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457200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National Headquarters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Nationwide live analytics, cross-circle transfers, audit logs, IP intelligence.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4AF37"/>
                </a:solidFill>
                <a:latin typeface="Georgia"/>
              </a:defRPr>
            </a:pPr>
            <a:r>
              <a:t>Responsive UX &amp; Zero-Scroll Interface</a:t>
            </a:r>
          </a:p>
          <a:p>
            <a:pPr>
              <a:spcBef>
                <a:spcPts val="400"/>
              </a:spcBef>
              <a:defRPr sz="1300">
                <a:solidFill>
                  <a:srgbClr val="00B4D8"/>
                </a:solidFill>
                <a:latin typeface="Segoe UI"/>
              </a:defRPr>
            </a:pPr>
            <a:r>
              <a:t>Designed for High-Efficiency Operations on Mobile, Tablet &amp; Desktop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875862" cy="914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54480"/>
            <a:ext cx="5257800" cy="4800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📱 Smart High-Density Column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7 Streamlined Smart Columns: Consolidated 10 columns into 7 high-density information units (Tracking/Date, Complainant/CNIC, Crime, Status, Progress, Enquiry, Actions).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Zero Horizontal Scrollbar: Table fits 100% within laptop (1366x768) and desktop (1920x1080) screens without clipping.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Clean Monospace CNIC Formatting: Exact `34100-1115454-6` alignment preventing wrapping bugs.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Touch-Friendly Action Targets: 34px-40px button heights with high-contrast color badges for rapid one-click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54480"/>
            <a:ext cx="5257800" cy="4800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73736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Segoe UI"/>
              </a:defRPr>
            </a:pPr>
            <a:r>
              <a:t>🖨️ Multi-Format Thermal &amp; Legal Prints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4884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80mm Thermal Receipt Slip: High-speed point-of-sale thermal slip with official NCCIA seal, QR code, and Verification Officer name.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80mm Legal Appearance Notice: Section 160 CrPC witness/accused call notice with date, venue, and reporting officer.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A4 Full Investigation Report: Comprehensive case dossier with Complainant, Accused, Financial Trails, and Attachments.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✔ Unified Visual Identity: Authentic circular NCCIA seal standardized across all prints.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4AF37"/>
                </a:solidFill>
                <a:latin typeface="Georgia"/>
              </a:defRPr>
            </a:pPr>
            <a:r>
              <a:t>Live System Demonstration Guide</a:t>
            </a:r>
          </a:p>
          <a:p>
            <a:pPr>
              <a:spcBef>
                <a:spcPts val="400"/>
              </a:spcBef>
              <a:defRPr sz="1300">
                <a:solidFill>
                  <a:srgbClr val="00B4D8"/>
                </a:solidFill>
                <a:latin typeface="Segoe UI"/>
              </a:defRPr>
            </a:pPr>
            <a:r>
              <a:t>Step-by-Step Demonstration Flow for Leadership &amp; Stakeholders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875862" cy="914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54480"/>
            <a:ext cx="5257800" cy="14630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Segoe UI"/>
              </a:defRPr>
            </a:pPr>
            <a:r>
              <a:t>Step 1: AI PDF Auto-Fill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Open `/complaints/import-pdf` ➔ Drop CCW verification PDF ➔ Watch Name, CNIC, Phone, Offence, and Accused Bank details auto-fill in 1 second.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54480"/>
            <a:ext cx="5257800" cy="14630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73736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Step 2: Instant Slip &amp; WhatsApp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01168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Click `Save &amp; Register` ➔ Print 80mm thermal slip with VO name &amp; QR code ➔ Trigger automated WhatsApp citizen alert.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5257800" cy="14630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8328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Step 3: Scrutiny &amp; 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Login as Circle Incharge ➔ Scrutinize complaint ➔ Assign to Verification Officer (VO) with priority tagging.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200400"/>
            <a:ext cx="5257800" cy="14630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38328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Step 4: Field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6576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Login as VO ➔ Review digital evidence ➔ Recommend Enquiry Registration ➔ Submit report for approval.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5257800" cy="14630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02920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Step 5: Formal Enquiry &amp; Notices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Login as IO ➔ View registered enquiry `#LHR-E-80519/26` ➔ Generate 80mm/A4 Legal Appearance Notice ➔ Add Case Diary (Zimni).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4846320"/>
            <a:ext cx="5257800" cy="14630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502920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B4D8"/>
                </a:solidFill>
                <a:latin typeface="Segoe UI"/>
              </a:defRPr>
            </a:pPr>
            <a:r>
              <a:t>Step 6: Security &amp; IP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530352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Open `/login-history` ➔ Search client IP / Real IP ➔ Demonstrate automated spoofing detection and audit logging.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4AF37"/>
                </a:solidFill>
                <a:latin typeface="Georgia"/>
              </a:defRPr>
            </a:pPr>
            <a:r>
              <a:t>Conclusion &amp; Strategic Impact</a:t>
            </a:r>
          </a:p>
          <a:p>
            <a:pPr>
              <a:spcBef>
                <a:spcPts val="400"/>
              </a:spcBef>
              <a:defRPr sz="1300">
                <a:solidFill>
                  <a:srgbClr val="00B4D8"/>
                </a:solidFill>
                <a:latin typeface="Segoe UI"/>
              </a:defRPr>
            </a:pPr>
            <a:r>
              <a:t>Empowering the Nation with Cutting-Edge Cyber Defense Technology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875862" cy="914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54480"/>
            <a:ext cx="10728655" cy="4800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Segoe UI"/>
              </a:defRPr>
            </a:pPr>
            <a:r>
              <a:t>🌟 Transformational Benefits for NCCIA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⭐ 10x Faster Case Processing: Registration time reduced from 20 minutes to under 60 seconds with AI OCR auto-fill.</a:t>
            </a:r>
          </a:p>
          <a:p>
            <a:pPr>
              <a:spcBef>
                <a:spcPts val="1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⭐ Zero Paper Loss: Complete digital lifecycle ensures evidence and case diaries are permanently preserved and searchable.</a:t>
            </a:r>
          </a:p>
          <a:p>
            <a:pPr>
              <a:spcBef>
                <a:spcPts val="1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⭐ 100% Institutional Transparency: Complete audit trail with timestamps, IP intelligence, and officer accountability.</a:t>
            </a:r>
          </a:p>
          <a:p>
            <a:pPr>
              <a:spcBef>
                <a:spcPts val="1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⭐ Nationwide High-Availability: Optimized architecture capable of handling 10 Million+ concurrent requests and 1 Crore records seamlessly.</a:t>
            </a:r>
          </a:p>
          <a:p>
            <a:pPr>
              <a:spcBef>
                <a:spcPts val="1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⭐ Citizen Trust &amp; Satisfaction: Instant WhatsApp receipts, QR verification, and automated status updates empower public confidence.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