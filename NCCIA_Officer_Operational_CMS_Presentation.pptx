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25415" y="658368"/>
            <a:ext cx="2340864" cy="2340864"/>
          </a:xfrm>
          <a:prstGeom prst="ellipse">
            <a:avLst/>
          </a:prstGeom>
          <a:solidFill>
            <a:srgbClr val="E5B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7" y="7315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08960"/>
            <a:ext cx="103628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5B953"/>
                </a:solidFill>
                <a:latin typeface="Georgia"/>
              </a:defRPr>
            </a:pPr>
            <a:r>
              <a:t>NATIONAL CYBER CRIME INVESTIGATION AGENCY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قومی سائبر کرائم تفتیش ایجنسی — وزارت داخلہ حکومت پاکستان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38BDF8"/>
                </a:solidFill>
                <a:latin typeface="Segoe UI"/>
              </a:defRPr>
            </a:pPr>
            <a:r>
              <a:t>Case Management System (CMS) — Officer Operational &amp; Training Guide</a:t>
            </a:r>
          </a:p>
          <a:p>
            <a:pPr algn="ctr">
              <a:spcBef>
                <a:spcPts val="600"/>
              </a:spcBef>
              <a:defRPr sz="1300">
                <a:solidFill>
                  <a:srgbClr val="A0AEC0"/>
                </a:solidFill>
                <a:latin typeface="Segoe UI"/>
              </a:defRPr>
            </a:pPr>
            <a:r>
              <a:t>A Complete Practical Manual for Desk Operators, Circle Incharges, VOs, IOs &amp; Forensic Experts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Purpose &amp; Vision of the CMS Portal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Transforming Traditional Paper Policing into Transparent Digital Workflows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📁 100% Digital Case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Eliminates physical file loss or delay. Every complaint, evidence, notice, and diary entry is permanently secured in the central digital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⏱️ Fast Citizen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Front desk registration takes less than 60 seconds with instant 80mm thermal slip generation and automated WhatsApp alert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4223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Segoe UI"/>
              </a:defRPr>
            </a:pPr>
            <a:r>
              <a:t>⚖️ Officer Accountability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Complete timeline tracking from initial filing to scrutiny, verification, enquiry, and court trial. Zero hidden 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977639"/>
            <a:ext cx="52578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14223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🔍 Instant Case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7200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Find any past or present case instantly by Complaint Number, Complainant CNIC, Phone Number, Accused Bank Account, or Offence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Officer Roles &amp; Responsibilities Matrix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Every Officer Has a Dedicated Dashboard Tailored to Their Official Mandate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34290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1. Reception / Desk Operator</a:t>
            </a:r>
          </a:p>
          <a:p>
            <a:pPr>
              <a:defRPr sz="1000" b="1">
                <a:solidFill>
                  <a:srgbClr val="10955D"/>
                </a:solidFill>
                <a:latin typeface="Segoe UI"/>
              </a:defRPr>
            </a:pPr>
            <a:r>
              <a:t>Front Desk &amp; Public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Enters citizen complaints, auto-fills details from verification reports, prints 80mm thermal receipts, and dispatches WhatsApp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08760"/>
            <a:ext cx="34290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73351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2. Circle Incharge (AD / DSP)</a:t>
            </a:r>
          </a:p>
          <a:p>
            <a:pPr>
              <a:defRPr sz="1000" b="1">
                <a:solidFill>
                  <a:srgbClr val="10955D"/>
                </a:solidFill>
                <a:latin typeface="Segoe UI"/>
              </a:defRPr>
            </a:pPr>
            <a:r>
              <a:t>Circle Command &amp; Scrutiny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8600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Reviews incoming complaints, checks legal jurisdiction, assigns Verification Officers (VO), and approves enquiry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08760"/>
            <a:ext cx="34290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673351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Segoe UI"/>
              </a:defRPr>
            </a:pPr>
            <a:r>
              <a:t>3. Verification Officer (VO)</a:t>
            </a:r>
          </a:p>
          <a:p>
            <a:pPr>
              <a:defRPr sz="1000" b="1">
                <a:solidFill>
                  <a:srgbClr val="10955D"/>
                </a:solidFill>
                <a:latin typeface="Segoe UI"/>
              </a:defRPr>
            </a:pPr>
            <a:r>
              <a:t>Field Verification Unit (ASI / 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28600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Conducts preliminary citizen inquiry, verifies phone/bank transactions, and submits verification findings with 1 of 4 clear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42231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4. Enquiry Officer (IO)</a:t>
            </a:r>
          </a:p>
          <a:p>
            <a:pPr>
              <a:defRPr sz="1000" b="1">
                <a:solidFill>
                  <a:srgbClr val="10955D"/>
                </a:solidFill>
                <a:latin typeface="Segoe UI"/>
              </a:defRPr>
            </a:pPr>
            <a:r>
              <a:t>Core Investigation (Inspector / SI)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79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Manages formal enquiries, issues Section 160 CrPC summons, records daily case diaries (Zimni), and prepares final reports (CFR).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4142231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5. Digital Forensic Specialist</a:t>
            </a:r>
          </a:p>
          <a:p>
            <a:pPr>
              <a:defRPr sz="1000" b="1">
                <a:solidFill>
                  <a:srgbClr val="10955D"/>
                </a:solidFill>
                <a:latin typeface="Segoe UI"/>
              </a:defRPr>
            </a:pPr>
            <a:r>
              <a:t>Forensic Lab Division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754879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Takes custody of seized digital devices, conducts forensic data extraction, and attaches forensic certificates to the case dossier.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977639"/>
            <a:ext cx="3429000" cy="224028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4142231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Segoe UI"/>
              </a:defRPr>
            </a:pPr>
            <a:r>
              <a:t>6. Headquarters / DG Admin</a:t>
            </a:r>
          </a:p>
          <a:p>
            <a:pPr>
              <a:defRPr sz="1000" b="1">
                <a:solidFill>
                  <a:srgbClr val="10955D"/>
                </a:solidFill>
                <a:latin typeface="Segoe UI"/>
              </a:defRPr>
            </a:pPr>
            <a:r>
              <a:t>National Command &amp;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754879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Monitors nationwide Circle performance, pendency metrics, transfer cases across circles, and reviews institutional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Front Desk: Fast Registration &amp; Receipt Issuance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Step-by-Step Guide for Desk Operators and Reception Moharrars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📋 How Operator Registers a Complaint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Step 1: Open Complaint Form</a:t>
            </a:r>
            <a:br/>
            <a:r>
              <a:t>  ➔ Click '+ New Complaint' on the top right of the dashboard.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Step 2: Auto-Fill from Report</a:t>
            </a:r>
            <a:br/>
            <a:r>
              <a:t>  ➔ If citizen brings a written verification report, drop the PDF into 'Import PDF' to auto-fill Name, CNIC, Phone, Address, and Accused Bank Details in 1 second.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Step 3: Verify Citizen Details</a:t>
            </a:r>
            <a:br/>
            <a:r>
              <a:t>  ➔ Check Complainant CNIC (34100-XXXXXXX-X), Contact No, and Crime Type (Financial Fraud, Harassment, PPC 414, Identity Theft).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Step 4: Save &amp; Generate Tracking No</a:t>
            </a:r>
            <a:br/>
            <a:r>
              <a:t>  ➔ System assigns unique Tracking Number (e.g. #0004/26).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🧾 80mm Thermal Receipt &amp; WhatsApp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Official 80mm Thermal Slip</a:t>
            </a:r>
            <a:br/>
            <a:r>
              <a:t>  ➔ Click 'Slip' button. Thermal printer instantly generates receipt featuring official NCCIA emblem, Complaint No, Date, and Verification Officer name.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Citizen WhatsApp Dispatch</a:t>
            </a:r>
            <a:br/>
            <a:r>
              <a:t>  ➔ Click green 'WhatsApp' button. A pre-formatted official acknowledgment message with live tracking link is sent directly to the citizen's mobile.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QR Code Verification</a:t>
            </a:r>
            <a:br/>
            <a:r>
              <a:t>  ➔ Citizen can scan the QR code anytime on their phone to see live progress without calling the station.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Zero Physical Register Entry</a:t>
            </a:r>
            <a:br/>
            <a:r>
              <a:t>  ➔ Automates Moharrar manual diary register, eliminating handwritten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Circle Incharge: Scrutiny &amp; Officer Assignment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How Assistant Directors / DSPs Supervise and Delegate Incoming Cases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⚖️ Legal Scrutiny of Complaints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Review New Submissions: Incharge dashboard shows all complaints registered in the Circle with real-time pending counters.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Check Legal Cognizance: Verify if the offense falls under NCCIA cyber jurisdiction (PECA Act 2016 / Cyber Stalking / Banking Fraud).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Mark Scrutiny Result: Mark complaint as 'Valid &amp; Proceed' or 'Irrelevant / Civil Dispute' with official remarks.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Set Priority Level: Tag high-profile, financial embezzlement, or vulnerable victim cases as 'Urgent Priority'.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👤 Direct Assignment to Verification Officer (VO)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One-Click Officer Marking: Click 'Assign' next to the complaint. Select from active Circle Verification Officers (ASI / Sub-Inspector).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Instant VO Notification: Assigned officer immediately sees the new complaint in their pending investigation queue.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Automatic Assignment Slip Update: The 80mm complaint slip and A4 report automatically reflect the assigned officer's name for public transparency.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Timeline Tracking: Incharge monitors how many days a VO takes to submit the verification inquiry.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Verification Officer: Field Inquiry &amp; 4 Outcomes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How VOs Conduct Preliminary Inquiries and Submit Official Findings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Segoe UI"/>
              </a:defRPr>
            </a:pPr>
            <a:r>
              <a:t>🔍 VO Investigation 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1. Contact Complainant &amp; Accused</a:t>
            </a:r>
            <a:br/>
            <a:r>
              <a:t>  ➔ Call parties, record preliminary statements, and request supporting digital proof.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2. Verify Financial &amp; CDR Trails</a:t>
            </a:r>
            <a:br/>
            <a:r>
              <a:t>  ➔ Verify bank transaction IDs, mobile wallet transfers (Easypaisa/JazzCash), and IP logs.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3. Accused Profiling</a:t>
            </a:r>
            <a:br/>
            <a:r>
              <a:t>  ➔ Add accused bank accounts, mobile numbers, and social media handles into the accused record table.</a:t>
            </a:r>
          </a:p>
          <a:p>
            <a:pPr>
              <a:spcBef>
                <a:spcPts val="8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4. Prepare Verification Report</a:t>
            </a:r>
            <a:br/>
            <a:r>
              <a:t>  ➔ Write summary of inquiry and select 1 of 4 official recommendations for Incharge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📊 4 Official Verification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🔸 1. Register Enquiry (Recommended)</a:t>
            </a:r>
            <a:br/>
            <a:r>
              <a:t>    Digital evidence establishes prima facie offense. Case moves to Formal Enquiry Stage.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🔸 2. Case Closure</a:t>
            </a:r>
            <a:br/>
            <a:r>
              <a:t>    Closed due to lack of evidence, non-pursuance by complainant, or mutual reconciliation.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🔸 3. Merge with Primary Complaint</a:t>
            </a:r>
            <a:br/>
            <a:r>
              <a:t>    Accused is part of an ongoing syndicate already under active investigation in another complaint.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🔸 4. Transfer to Other Circle / Agency</a:t>
            </a:r>
            <a:br/>
            <a:r>
              <a:t>    Offense occurred in another territorial Circle or belongs to Provincial Police / FIA / NAB.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Investigation Officer (IO): Formal Enquiry &amp; Case Diaries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Managing Registered Enquiries, Section 160 CrPC Summons &amp; Case Diaries (Zimni)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📂 Formal Enquiry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Enquiry Numbering: System assigns official Enquiry ID (e.g. #LHR-E-80519/26).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Assigned to Inspector / IO: IO takes complete charge of the statutory investigation dossier.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Bank &amp; Telecom Directives: IO records formal requests sent to State Bank, Commercial Banks, and Telcos for account freezing and CDR.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Evidence Vault: Uploads seized bank receipts, chat screenshots, and victim affidavits directly to the enquiry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📖 Digital Case Diary (Zimni)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Daily Progress Entries: IO enters chronological Zimni entries with date, diary number, and detailed investigation notes.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Tamper-Proof Timestamps: System locks diary timestamps, preventing retroactive tampering and ensuring court admissibility.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A4 Printable Zimni Dossier: 1-click generation of complete case diary history for submission to Circle Incharge or High Court.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Final Case Report (CFR): IO compiles Case Final Report with findings for FIR registration.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Legal Notices Generator: Section 160 CrPC Summons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Instant Generation of Statutory Appearance Notices in Thermal &amp; A4 Formats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📜 Statutory Notice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Section 160 CrPC Compliance: Generates legally binding call-up notices for accused and material witnesses.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Automated Officer &amp; Station Details: Auto-populates Circle Name, IO Name, Station Address, Date &amp; Time of required appearance.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Anti-Fraud QR Verification: Includes secure QR verification URL so recipient can verify the notice is genuine and issued by NCCIA.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Service Tracking: Records delivery method (By Hand / Registered Post / WhatsApp / Courier) and recipient acknowledgment.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🖨️ Dual Print Modes (80mm &amp; A4)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80mm Thermal Field Notice: Compact, high-speed thermal notice printed instantly at the desk for hand-to-hand delivery by field officers.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A4 Formal Legal Notice: Full official letterhead notice complete with NCCIA seal, legal warning, signature boxes, and duplicate copy for case file.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WhatsApp Electronic Notice: Direct transmission of official summons to recipient's mobile with automatic timestamp logging.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🔹 Eliminates Notice Drafting Time: Reduces notice creation from 15 minutes of typing to 1 single click.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Digital Forensic Unit: Evidence Chain of Custody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Segregated Lab Portal for Mobile, Computer &amp; Cloud Evidence Examination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🔬 Evidence Intake &amp; Chain of Custody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Seized Device Intake: IO submits seized phones, laptops, USB drives, or DVRs with parcel and seal details.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Cryptographic Hash Calculation: Records MD5 and SHA256 hashes upon intake to ensure zero evidence alteration.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Segregated Forensic Portal: Forensic examiners access a dedicated /forensic interface without interfering with IO case files.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Hardware &amp; OS Metadata: Records IMEI, Serial Numbers, OS Version, and device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📑 Forensic Examination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Extraction Findings: Forensic specialist documents recovered WhatsApp chats, deleted call logs, crypto transactions, and financial artifacts.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Digital Certificate Attachment: System generates official Forensic Report signed with examiner's digital signature.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Direct Attachment to Case File: Report automatically links to the primary Enquiry/FIR file for court presentation.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Strict Chain-of-Custody Log: Records who handled the evidence, date, time, and room storage location.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Case File (FIR) &amp; Court Prosecution Tracking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From FIR Registration and Challan Submission to Final Court Verdict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⚖️ FIR Registration &amp; Challan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FIR Creation: Upon approval of CFR by Incharge/DG, system registers formal Case File with FIR Number (e.g. FIR # 12/26).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Challan Preparation (Section 173 CrPC): Prosecution branch tracks Challan drafting, scrutiny, and submission date to Special Cyber Court.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Accused In Custody / Bail: Tracks status of arrested suspects (Physical Remand, Judicial Lockup, Interim Bail, Proclaimed Offender).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Seized Assets &amp; Case Property: Maintains register of frozen bank funds, recovered cash, and impounded vehicles.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Segoe UI"/>
              </a:defRPr>
            </a:pPr>
            <a:r>
              <a:t>🏛️ Court Hearings &amp; Final 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Hearing Calendar: Automated alert for upcoming court appearance dates, IO witness cross-examinations, and prosecutor notes.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Bail Application Tracking: Records Pre-Arrest and Post-Arrest bail decisions with judge orders.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Final Verdict Recording: Records final court judgment: Conviction (Prison Term &amp; Fines), Acquittal, or Compromise.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🔸 Recovery &amp; Restitution: Logs refunded amounts returned to scam victims through court directives.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10 Lakh Historical Case Records Reference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Instant Cross-Search Across Millions of Past FIRs, Enquiries &amp; Scammer Accounts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🔍 Instant Multi-Parameter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Search by CNIC: Enter suspect or complainant CNIC to instantly pull their complete history across all Pakistan Circles.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Search by Bank Account / IBAN: Detect if a scammer's bank account was involved in previous cyber fraud complaints in Karachi, Lahore, or Islamabad.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Search by Phone / WhatsApp: Check call history, reported WhatsApp numbers, and suspect aliases.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Search by Historical Tracking ID: Retrieve old legacy scanned files from the 10 Lakh historical database in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📁 Fast Historical Ingestion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Hierarchical Folder Structure: Historical files structured by Circle ➔ IO ➔ Moharar are automatically cataloged.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Zero Storage Duplication: In-place referencing preserves server disk space while making 10 Lakh files searchable.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Historical Verification Reports: Officers can open and read original legacy PDF reports with 1 click from their desk.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✔ Syndicate Detection: Cross-references past and present accused profiles to expose repeat cyber crime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Circle Performance Monitoring &amp; Accountability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Real-Time Executive Dashboards for Incharges, Regional Directors &amp; Headquarters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📊 Real-Time Circle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📈 Total Intake vs Disposal Rate: Visual representation of complaints registered vs inquiries finalized per month.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📈 Average Resolution Days: Tracks average days taken by each Circle and Officer to complete investigations.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📈 Crime Category Distribution: Live breakdown of Financial Frauds, Harassment, Identity Theft, and PPC 414 cases.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📈 Recovery Metrics: Total defrauded money recovered and returned to citizens.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🛡️ Officer Login &amp; Security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🛡️ Real-Time IP Logging: Tracks connecting IP, Real Origin IP, and login timestamps for every officer session.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🛡️ Spoof &amp; Unauthorized Access Alerts: Flags any suspicious proxy or VPN usage instantly on the security dashboard.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🛡️ Action History Audit: Every status update, case assignment, report submission, and notice print is recorded with user stamp.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🛡️ Zero Unauthorized Alteration: Ensures high institutional discipline and security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Live Practical Demonstration Guide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Step-by-Step Practical Demonstration for Officers &amp; Leadership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257800" cy="1481328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1. Desk Operator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Open /complaints/create ➔ Auto-fill from sample report ➔ Register complaint #0004/26 ➔ Print 80mm thermal slip with VO name &amp; QR ➔ Send WhatsApp alert.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1481328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73351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2. Circle Incharge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6596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Open Dashboard ➔ Review pending complaints ➔ Assign Verification Officer (VO) with High Priority tag.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57800" cy="1481328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1927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VO Inquiry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VO reviews case evidence ➔ Records preliminary findings ➔ Selects Register Enquiry recommendation ➔ Submits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54680"/>
            <a:ext cx="5257800" cy="1481328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31927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4. IO Enquiry &amp; Notice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6118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IO opens registered enquiry #LHR-E-80519/26 ➔ Generates Section 160 CrPC Legal Notice (80mm &amp; A4) ➔ Enters daily Case Diary (Zimni).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5257800" cy="1481328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6519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5. Forensic Lab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Open /forensic ➔ Review evidence item ➔ Verify hash ➔ Attach Forensic Examination Certificate.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800600"/>
            <a:ext cx="5257800" cy="1481328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965192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6. Security &amp; Audit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525780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Open /login-history ➔ Search IP address ➔ Demonstrate live audit trail and real IP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5B953"/>
                </a:solidFill>
                <a:latin typeface="Georgia"/>
              </a:defRPr>
            </a:pPr>
            <a:r>
              <a:t>Standard Operating Procedures (SOPs) &amp; Next Steps</a:t>
            </a:r>
          </a:p>
          <a:p>
            <a:pPr>
              <a:spcBef>
                <a:spcPts val="400"/>
              </a:spcBef>
              <a:defRPr sz="1250" b="1">
                <a:solidFill>
                  <a:srgbClr val="38BDF8"/>
                </a:solidFill>
                <a:latin typeface="Segoe UI"/>
              </a:defRPr>
            </a:pPr>
            <a:r>
              <a:t>Guidelines for Full Agency Rollout Across All Circles Nationwide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74320"/>
            <a:ext cx="919655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10728655" cy="4892040"/>
          </a:xfrm>
          <a:prstGeom prst="roundRect">
            <a:avLst/>
          </a:prstGeom>
          <a:solidFill>
            <a:srgbClr val="132444"/>
          </a:solidFill>
          <a:ln w="19050">
            <a:solidFill>
              <a:srgbClr val="29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B953"/>
                </a:solidFill>
                <a:latin typeface="Segoe UI"/>
              </a:defRPr>
            </a:pPr>
            <a:r>
              <a:t>🎖️ Standards of Official Operational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⭐ Mandatory 80mm Receipt Issuance: Every complainant visiting an NCCIA station must receive a printed 80mm thermal receipt with tracking QR code.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⭐ 24-Hour Scrutiny Turnaround: Circle Incharges must review and assign complaints within 24 hours of front desk registration.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⭐ Daily Case Diary (Zimni) Compliance: Investigation Officers must enter daily progress in the digital diary to ensure strict court admissibility.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⭐ Zero Paper Dossier Mandate: All bank correspondence, evidence items, and notices must be uploaded to the central digital dossier.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⭐ Accountability &amp; Citizen Service: Direct WhatsApp tracking and transparency empower citizens and strengthen public confidence in NCCIA.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