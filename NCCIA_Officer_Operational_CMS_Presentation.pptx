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57200"/>
            <a:ext cx="11094415" cy="5943600"/>
          </a:xfrm>
          <a:prstGeom prst="roundRect">
            <a:avLst/>
          </a:prstGeom>
          <a:solidFill>
            <a:srgbClr val="0E1C36"/>
          </a:solidFill>
          <a:ln w="25400">
            <a:solidFill>
              <a:srgbClr val="294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14400" y="777240"/>
            <a:ext cx="10362895" cy="502920"/>
          </a:xfrm>
          <a:prstGeom prst="roundRect">
            <a:avLst/>
          </a:prstGeom>
          <a:solidFill>
            <a:srgbClr val="0A1426"/>
          </a:solidFill>
          <a:ln w="15240">
            <a:solidFill>
              <a:srgbClr val="E5B9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/>
          <a:lstStyle/>
          <a:p>
            <a:pPr algn="ctr">
              <a:defRPr sz="1200" b="1">
                <a:solidFill>
                  <a:srgbClr val="E5B953"/>
                </a:solidFill>
                <a:latin typeface="Segoe UI"/>
              </a:defRPr>
            </a:pPr>
            <a:r>
              <a:t>ISLAMIC REPUBLIC OF PAKISTAN  •  MINISTRY OF INTERIOR &amp; NARCOTICS CONTROL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508760"/>
            <a:ext cx="3840480" cy="4480560"/>
          </a:xfrm>
          <a:prstGeom prst="roundRect">
            <a:avLst/>
          </a:prstGeom>
          <a:solidFill>
            <a:srgbClr val="122240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54480" y="1828800"/>
            <a:ext cx="2560320" cy="2560320"/>
          </a:xfrm>
          <a:prstGeom prst="ellipse">
            <a:avLst/>
          </a:prstGeom>
          <a:solidFill>
            <a:srgbClr val="E5B9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200" y="1874519"/>
            <a:ext cx="2468880" cy="2468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51560" y="4617720"/>
            <a:ext cx="3566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E5B953"/>
                </a:solidFill>
                <a:latin typeface="Segoe UI"/>
              </a:defRPr>
            </a:pPr>
            <a:r>
              <a:t>OFFICIAL EMBLEM</a:t>
            </a:r>
          </a:p>
          <a:p>
            <a:pPr algn="ctr">
              <a:spcBef>
                <a:spcPts val="300"/>
              </a:spcBef>
              <a:defRPr sz="1000">
                <a:solidFill>
                  <a:srgbClr val="A0AEC0"/>
                </a:solidFill>
                <a:latin typeface="Segoe UI"/>
              </a:defRPr>
            </a:pPr>
            <a:r>
              <a:t>Combating Cyber Crimes</a:t>
            </a:r>
            <a:br/>
            <a:r>
              <a:t>Federal Investigation Authority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83480" y="1508760"/>
            <a:ext cx="6291072" cy="4480560"/>
          </a:xfrm>
          <a:prstGeom prst="roundRect">
            <a:avLst/>
          </a:prstGeom>
          <a:solidFill>
            <a:srgbClr val="122240"/>
          </a:solidFill>
          <a:ln w="19050">
            <a:solidFill>
              <a:srgbClr val="294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57800" y="1691640"/>
            <a:ext cx="57607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E5B953"/>
                </a:solidFill>
                <a:latin typeface="Georgia"/>
              </a:defRPr>
            </a:pPr>
            <a:r>
              <a:t>NATIONAL CYBER CRIME</a:t>
            </a:r>
            <a:br/>
            <a:r>
              <a:t>INVESTIGATION AGENCY</a:t>
            </a:r>
          </a:p>
          <a:p>
            <a:pPr>
              <a:spcBef>
                <a:spcPts val="600"/>
              </a:spcBef>
              <a:defRPr sz="1500" b="1">
                <a:solidFill>
                  <a:srgbClr val="FFFFFF"/>
                </a:solidFill>
                <a:latin typeface="Segoe UI"/>
              </a:defRPr>
            </a:pPr>
            <a:r>
              <a:t>قومی سائبر کرائم تفتیش ایجنسی — حکومت پاکستان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257800" y="3246120"/>
            <a:ext cx="5715000" cy="36576"/>
          </a:xfrm>
          <a:prstGeom prst="rect">
            <a:avLst/>
          </a:prstGeom>
          <a:solidFill>
            <a:srgbClr val="E5B9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257800" y="3364992"/>
            <a:ext cx="5760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8BDF8"/>
                </a:solidFill>
                <a:latin typeface="Segoe UI"/>
              </a:defRPr>
            </a:pPr>
            <a:r>
              <a:t>DIGITAL CASE MANAGEMENT SYSTEM (CMS)</a:t>
            </a:r>
          </a:p>
          <a:p>
            <a:pPr>
              <a:spcBef>
                <a:spcPts val="400"/>
              </a:spcBef>
              <a:defRPr sz="1200" b="1">
                <a:solidFill>
                  <a:srgbClr val="FFFFFF"/>
                </a:solidFill>
                <a:latin typeface="Segoe UI"/>
              </a:defRPr>
            </a:pPr>
            <a:r>
              <a:t>Standard Operating Procedures (SOPs) &amp; Officer Operational Training Manual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57800" y="5166360"/>
            <a:ext cx="1828800" cy="594360"/>
          </a:xfrm>
          <a:prstGeom prst="roundRect">
            <a:avLst/>
          </a:prstGeom>
          <a:solidFill>
            <a:srgbClr val="0A162C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/>
          <a:lstStyle/>
          <a:p>
            <a:pPr algn="ctr">
              <a:defRPr sz="950" b="1">
                <a:solidFill>
                  <a:srgbClr val="FFFFFF"/>
                </a:solidFill>
                <a:latin typeface="Segoe UI"/>
              </a:defRPr>
            </a:pPr>
            <a:r>
              <a:t>📝 Front Desk &amp; 80mm Slips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78040" y="5166360"/>
            <a:ext cx="1828800" cy="594360"/>
          </a:xfrm>
          <a:prstGeom prst="roundRect">
            <a:avLst/>
          </a:prstGeom>
          <a:solidFill>
            <a:srgbClr val="0A162C"/>
          </a:solidFill>
          <a:ln w="15240">
            <a:solidFill>
              <a:srgbClr val="E5B9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/>
          <a:lstStyle/>
          <a:p>
            <a:pPr algn="ctr">
              <a:defRPr sz="950" b="1">
                <a:solidFill>
                  <a:srgbClr val="FFFFFF"/>
                </a:solidFill>
                <a:latin typeface="Segoe UI"/>
              </a:defRPr>
            </a:pPr>
            <a:r>
              <a:t>⚖️ VO &amp; IO Case Enquiries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98280" y="5166360"/>
            <a:ext cx="1828800" cy="594360"/>
          </a:xfrm>
          <a:prstGeom prst="roundRect">
            <a:avLst/>
          </a:prstGeom>
          <a:solidFill>
            <a:srgbClr val="0A162C"/>
          </a:solidFill>
          <a:ln w="15240">
            <a:solidFill>
              <a:srgbClr val="1095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/>
          <a:lstStyle/>
          <a:p>
            <a:pPr algn="ctr">
              <a:defRPr sz="950" b="1">
                <a:solidFill>
                  <a:srgbClr val="FFFFFF"/>
                </a:solidFill>
                <a:latin typeface="Segoe UI"/>
              </a:defRPr>
            </a:pPr>
            <a:r>
              <a:t>🔬 Digital Forensic Lab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96012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E5B953"/>
                </a:solidFill>
                <a:latin typeface="Georgia"/>
              </a:defRPr>
            </a:pPr>
            <a:r>
              <a:t>Purpose &amp; Vision of the CMS Portal</a:t>
            </a:r>
          </a:p>
          <a:p>
            <a:pPr>
              <a:spcBef>
                <a:spcPts val="400"/>
              </a:spcBef>
              <a:defRPr sz="1250" b="1">
                <a:solidFill>
                  <a:srgbClr val="38BDF8"/>
                </a:solidFill>
                <a:latin typeface="Segoe UI"/>
              </a:defRPr>
            </a:pPr>
            <a:r>
              <a:t>Transforming Traditional Paper Policing into Transparent Digital Workflows</a:t>
            </a:r>
          </a:p>
        </p:txBody>
      </p:sp>
      <p:pic>
        <p:nvPicPr>
          <p:cNvPr id="4" name="Picture 3" descr="imag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274320"/>
            <a:ext cx="919655" cy="9601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31520" y="1508760"/>
            <a:ext cx="5257800" cy="2240280"/>
          </a:xfrm>
          <a:prstGeom prst="roundRect">
            <a:avLst/>
          </a:prstGeom>
          <a:solidFill>
            <a:srgbClr val="132444"/>
          </a:solidFill>
          <a:ln w="19050">
            <a:solidFill>
              <a:srgbClr val="294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73351"/>
            <a:ext cx="4800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  <a:latin typeface="Segoe UI"/>
              </a:defRPr>
            </a:pPr>
            <a:r>
              <a:t>📁 100% Digital Case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103120"/>
            <a:ext cx="48006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Segoe UI"/>
              </a:defRPr>
            </a:pPr>
            <a:r>
              <a:t>Eliminates physical file loss or delay. Every complaint, evidence, notice, and diary entry is permanently secured in the central digital database.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1508760"/>
            <a:ext cx="5257800" cy="2240280"/>
          </a:xfrm>
          <a:prstGeom prst="roundRect">
            <a:avLst/>
          </a:prstGeom>
          <a:solidFill>
            <a:srgbClr val="132444"/>
          </a:solidFill>
          <a:ln w="19050">
            <a:solidFill>
              <a:srgbClr val="294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28232" y="1673351"/>
            <a:ext cx="4800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E5B953"/>
                </a:solidFill>
                <a:latin typeface="Segoe UI"/>
              </a:defRPr>
            </a:pPr>
            <a:r>
              <a:t>⏱️ Fast Citizen Registration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28232" y="2103120"/>
            <a:ext cx="48006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Segoe UI"/>
              </a:defRPr>
            </a:pPr>
            <a:r>
              <a:t>Front desk registration takes less than 60 seconds with instant 80mm thermal slip generation and automated WhatsApp alert dispatch.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977639"/>
            <a:ext cx="5257800" cy="2240280"/>
          </a:xfrm>
          <a:prstGeom prst="roundRect">
            <a:avLst/>
          </a:prstGeom>
          <a:solidFill>
            <a:srgbClr val="132444"/>
          </a:solidFill>
          <a:ln w="19050">
            <a:solidFill>
              <a:srgbClr val="294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142231"/>
            <a:ext cx="4800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0955D"/>
                </a:solidFill>
                <a:latin typeface="Segoe UI"/>
              </a:defRPr>
            </a:pPr>
            <a:r>
              <a:t>⚖️ Officer Accountability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4572000"/>
            <a:ext cx="48006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Segoe UI"/>
              </a:defRPr>
            </a:pPr>
            <a:r>
              <a:t>Complete timeline tracking from initial filing to scrutiny, verification, enquiry, and court trial. Zero hidden pendency.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3977639"/>
            <a:ext cx="5257800" cy="2240280"/>
          </a:xfrm>
          <a:prstGeom prst="roundRect">
            <a:avLst/>
          </a:prstGeom>
          <a:solidFill>
            <a:srgbClr val="132444"/>
          </a:solidFill>
          <a:ln w="19050">
            <a:solidFill>
              <a:srgbClr val="294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8232" y="4142231"/>
            <a:ext cx="4800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  <a:latin typeface="Segoe UI"/>
              </a:defRPr>
            </a:pPr>
            <a:r>
              <a:t>🔍 Instant Case Search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28232" y="4572000"/>
            <a:ext cx="48006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Segoe UI"/>
              </a:defRPr>
            </a:pPr>
            <a:r>
              <a:t>Find any past or present case instantly by Complaint Number, Complainant CNIC, Phone Number, Accused Bank Account, or Offence Category.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96012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E5B953"/>
                </a:solidFill>
                <a:latin typeface="Georgia"/>
              </a:defRPr>
            </a:pPr>
            <a:r>
              <a:t>Officer Roles &amp; Responsibilities Matrix</a:t>
            </a:r>
          </a:p>
          <a:p>
            <a:pPr>
              <a:spcBef>
                <a:spcPts val="400"/>
              </a:spcBef>
              <a:defRPr sz="1250" b="1">
                <a:solidFill>
                  <a:srgbClr val="38BDF8"/>
                </a:solidFill>
                <a:latin typeface="Segoe UI"/>
              </a:defRPr>
            </a:pPr>
            <a:r>
              <a:t>Every Officer Has a Dedicated Dashboard Tailored to Their Official Mandate</a:t>
            </a:r>
          </a:p>
        </p:txBody>
      </p:sp>
      <p:pic>
        <p:nvPicPr>
          <p:cNvPr id="4" name="Picture 3" descr="imag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274320"/>
            <a:ext cx="919655" cy="9601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31520" y="1508760"/>
            <a:ext cx="3429000" cy="2240280"/>
          </a:xfrm>
          <a:prstGeom prst="roundRect">
            <a:avLst/>
          </a:prstGeom>
          <a:solidFill>
            <a:srgbClr val="132444"/>
          </a:solidFill>
          <a:ln w="19050">
            <a:solidFill>
              <a:srgbClr val="294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73351"/>
            <a:ext cx="2971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  <a:latin typeface="Segoe UI"/>
              </a:defRPr>
            </a:pPr>
            <a:r>
              <a:t>1. Reception / Desk Operator</a:t>
            </a:r>
          </a:p>
          <a:p>
            <a:pPr>
              <a:defRPr sz="1000" b="1">
                <a:solidFill>
                  <a:srgbClr val="10955D"/>
                </a:solidFill>
                <a:latin typeface="Segoe UI"/>
              </a:defRPr>
            </a:pPr>
            <a:r>
              <a:t>Front Desk &amp; Public Intake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286000"/>
            <a:ext cx="306324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  <a:latin typeface="Segoe UI"/>
              </a:defRPr>
            </a:pPr>
            <a:r>
              <a:t>Enters citizen complaints, auto-fills details from verification reports, prints 80mm thermal receipts, and dispatches WhatsApp alerts.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0832" y="1508760"/>
            <a:ext cx="3429000" cy="2240280"/>
          </a:xfrm>
          <a:prstGeom prst="roundRect">
            <a:avLst/>
          </a:prstGeom>
          <a:solidFill>
            <a:srgbClr val="132444"/>
          </a:solidFill>
          <a:ln w="19050">
            <a:solidFill>
              <a:srgbClr val="294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99432" y="1673351"/>
            <a:ext cx="2971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E5B953"/>
                </a:solidFill>
                <a:latin typeface="Segoe UI"/>
              </a:defRPr>
            </a:pPr>
            <a:r>
              <a:t>2. Circle Incharge (AD / DSP)</a:t>
            </a:r>
          </a:p>
          <a:p>
            <a:pPr>
              <a:defRPr sz="1000" b="1">
                <a:solidFill>
                  <a:srgbClr val="10955D"/>
                </a:solidFill>
                <a:latin typeface="Segoe UI"/>
              </a:defRPr>
            </a:pPr>
            <a:r>
              <a:t>Circle Command &amp; Scrutiny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53712" y="2286000"/>
            <a:ext cx="306324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  <a:latin typeface="Segoe UI"/>
              </a:defRPr>
            </a:pPr>
            <a:r>
              <a:t>Reviews incoming complaints, checks legal jurisdiction, assigns Verification Officers (VO), and approves enquiry recommendations.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10144" y="1508760"/>
            <a:ext cx="3429000" cy="2240280"/>
          </a:xfrm>
          <a:prstGeom prst="roundRect">
            <a:avLst/>
          </a:prstGeom>
          <a:solidFill>
            <a:srgbClr val="132444"/>
          </a:solidFill>
          <a:ln w="19050">
            <a:solidFill>
              <a:srgbClr val="294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38744" y="1673351"/>
            <a:ext cx="2971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0955D"/>
                </a:solidFill>
                <a:latin typeface="Segoe UI"/>
              </a:defRPr>
            </a:pPr>
            <a:r>
              <a:t>3. Verification Officer (VO)</a:t>
            </a:r>
          </a:p>
          <a:p>
            <a:pPr>
              <a:defRPr sz="1000" b="1">
                <a:solidFill>
                  <a:srgbClr val="10955D"/>
                </a:solidFill>
                <a:latin typeface="Segoe UI"/>
              </a:defRPr>
            </a:pPr>
            <a:r>
              <a:t>Field Verification Unit (ASI / SI)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93023" y="2286000"/>
            <a:ext cx="306324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  <a:latin typeface="Segoe UI"/>
              </a:defRPr>
            </a:pPr>
            <a:r>
              <a:t>Conducts preliminary citizen inquiry, verifies phone/bank transactions, and submits verification findings with 1 of 4 clear outcomes.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977639"/>
            <a:ext cx="3429000" cy="2240280"/>
          </a:xfrm>
          <a:prstGeom prst="roundRect">
            <a:avLst/>
          </a:prstGeom>
          <a:solidFill>
            <a:srgbClr val="132444"/>
          </a:solidFill>
          <a:ln w="19050">
            <a:solidFill>
              <a:srgbClr val="294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142231"/>
            <a:ext cx="2971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  <a:latin typeface="Segoe UI"/>
              </a:defRPr>
            </a:pPr>
            <a:r>
              <a:t>4. Enquiry Officer (IO)</a:t>
            </a:r>
          </a:p>
          <a:p>
            <a:pPr>
              <a:defRPr sz="1000" b="1">
                <a:solidFill>
                  <a:srgbClr val="10955D"/>
                </a:solidFill>
                <a:latin typeface="Segoe UI"/>
              </a:defRPr>
            </a:pPr>
            <a:r>
              <a:t>Core Investigation (Inspector / SI)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754879"/>
            <a:ext cx="306324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  <a:latin typeface="Segoe UI"/>
              </a:defRPr>
            </a:pPr>
            <a:r>
              <a:t>Manages formal enquiries, issues Section 160 CrPC summons, records daily case diaries (Zimni), and prepares final reports (CFR).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70832" y="3977639"/>
            <a:ext cx="3429000" cy="2240280"/>
          </a:xfrm>
          <a:prstGeom prst="roundRect">
            <a:avLst/>
          </a:prstGeom>
          <a:solidFill>
            <a:srgbClr val="132444"/>
          </a:solidFill>
          <a:ln w="19050">
            <a:solidFill>
              <a:srgbClr val="294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99432" y="4142231"/>
            <a:ext cx="2971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E5B953"/>
                </a:solidFill>
                <a:latin typeface="Segoe UI"/>
              </a:defRPr>
            </a:pPr>
            <a:r>
              <a:t>5. Digital Forensic Specialist</a:t>
            </a:r>
          </a:p>
          <a:p>
            <a:pPr>
              <a:defRPr sz="1000" b="1">
                <a:solidFill>
                  <a:srgbClr val="10955D"/>
                </a:solidFill>
                <a:latin typeface="Segoe UI"/>
              </a:defRPr>
            </a:pPr>
            <a:r>
              <a:t>Forensic Lab Division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53712" y="4754879"/>
            <a:ext cx="306324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  <a:latin typeface="Segoe UI"/>
              </a:defRPr>
            </a:pPr>
            <a:r>
              <a:t>Takes custody of seized digital devices, conducts forensic data extraction, and attaches forensic certificates to the case dossier.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10144" y="3977639"/>
            <a:ext cx="3429000" cy="2240280"/>
          </a:xfrm>
          <a:prstGeom prst="roundRect">
            <a:avLst/>
          </a:prstGeom>
          <a:solidFill>
            <a:srgbClr val="132444"/>
          </a:solidFill>
          <a:ln w="19050">
            <a:solidFill>
              <a:srgbClr val="294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4142231"/>
            <a:ext cx="2971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0955D"/>
                </a:solidFill>
                <a:latin typeface="Segoe UI"/>
              </a:defRPr>
            </a:pPr>
            <a:r>
              <a:t>6. Headquarters / DG Admin</a:t>
            </a:r>
          </a:p>
          <a:p>
            <a:pPr>
              <a:defRPr sz="1000" b="1">
                <a:solidFill>
                  <a:srgbClr val="10955D"/>
                </a:solidFill>
                <a:latin typeface="Segoe UI"/>
              </a:defRPr>
            </a:pPr>
            <a:r>
              <a:t>National Command &amp; Monitoring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93023" y="4754879"/>
            <a:ext cx="306324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  <a:latin typeface="Segoe UI"/>
              </a:defRPr>
            </a:pPr>
            <a:r>
              <a:t>Monitors nationwide Circle performance, pendency metrics, transfer cases across circles, and reviews institutional audit logs.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96012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E5B953"/>
                </a:solidFill>
                <a:latin typeface="Georgia"/>
              </a:defRPr>
            </a:pPr>
            <a:r>
              <a:t>Front Desk: Fast Registration &amp; Receipt Issuance</a:t>
            </a:r>
          </a:p>
          <a:p>
            <a:pPr>
              <a:spcBef>
                <a:spcPts val="400"/>
              </a:spcBef>
              <a:defRPr sz="1250" b="1">
                <a:solidFill>
                  <a:srgbClr val="38BDF8"/>
                </a:solidFill>
                <a:latin typeface="Segoe UI"/>
              </a:defRPr>
            </a:pPr>
            <a:r>
              <a:t>Step-by-Step Guide for Desk Operators and Reception Moharrars</a:t>
            </a:r>
          </a:p>
        </p:txBody>
      </p:sp>
      <p:pic>
        <p:nvPicPr>
          <p:cNvPr id="4" name="Picture 3" descr="imag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274320"/>
            <a:ext cx="919655" cy="9601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31520" y="1508760"/>
            <a:ext cx="5257800" cy="4892040"/>
          </a:xfrm>
          <a:prstGeom prst="roundRect">
            <a:avLst/>
          </a:prstGeom>
          <a:solidFill>
            <a:srgbClr val="132444"/>
          </a:solidFill>
          <a:ln w="19050">
            <a:solidFill>
              <a:srgbClr val="294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73351"/>
            <a:ext cx="4800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  <a:latin typeface="Segoe UI"/>
              </a:defRPr>
            </a:pPr>
            <a:r>
              <a:t>📋 How Operator Registers a Complaint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103120"/>
            <a:ext cx="4800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Step 1: Open Complaint Form</a:t>
            </a:r>
            <a:br/>
            <a:r>
              <a:t>  ➔ Click '+ New Complaint' on the top right of the dashboard.</a:t>
            </a:r>
          </a:p>
          <a:p>
            <a:pPr>
              <a:spcBef>
                <a:spcPts val="8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Step 2: Auto-Fill from Report</a:t>
            </a:r>
            <a:br/>
            <a:r>
              <a:t>  ➔ If citizen brings a written verification report, drop the PDF into 'Import PDF' to auto-fill Name, CNIC, Phone, Address, and Accused Bank Details in 1 second.</a:t>
            </a:r>
          </a:p>
          <a:p>
            <a:pPr>
              <a:spcBef>
                <a:spcPts val="8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Step 3: Verify Citizen Details</a:t>
            </a:r>
            <a:br/>
            <a:r>
              <a:t>  ➔ Check Complainant CNIC (34100-XXXXXXX-X), Contact No, and Crime Type (Financial Fraud, Harassment, PPC 414, Identity Theft).</a:t>
            </a:r>
          </a:p>
          <a:p>
            <a:pPr>
              <a:spcBef>
                <a:spcPts val="8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Step 4: Save &amp; Generate Tracking No</a:t>
            </a:r>
            <a:br/>
            <a:r>
              <a:t>  ➔ System assigns unique Tracking Number (e.g. #0004/26).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1508760"/>
            <a:ext cx="5257800" cy="4892040"/>
          </a:xfrm>
          <a:prstGeom prst="roundRect">
            <a:avLst/>
          </a:prstGeom>
          <a:solidFill>
            <a:srgbClr val="132444"/>
          </a:solidFill>
          <a:ln w="19050">
            <a:solidFill>
              <a:srgbClr val="294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28232" y="1673351"/>
            <a:ext cx="4800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E5B953"/>
                </a:solidFill>
                <a:latin typeface="Segoe UI"/>
              </a:defRPr>
            </a:pPr>
            <a:r>
              <a:t>🧾 80mm Thermal Receipt &amp; WhatsApp Alert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28232" y="2103120"/>
            <a:ext cx="4800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Official 80mm Thermal Slip</a:t>
            </a:r>
            <a:br/>
            <a:r>
              <a:t>  ➔ Click 'Slip' button. Thermal printer instantly generates receipt featuring official NCCIA emblem, Complaint No, Date, and Verification Officer name.</a:t>
            </a:r>
          </a:p>
          <a:p>
            <a:pPr>
              <a:spcBef>
                <a:spcPts val="8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Citizen WhatsApp Dispatch</a:t>
            </a:r>
            <a:br/>
            <a:r>
              <a:t>  ➔ Click green 'WhatsApp' button. A pre-formatted official acknowledgment message with live tracking link is sent directly to the citizen's mobile.</a:t>
            </a:r>
          </a:p>
          <a:p>
            <a:pPr>
              <a:spcBef>
                <a:spcPts val="8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QR Code Verification</a:t>
            </a:r>
            <a:br/>
            <a:r>
              <a:t>  ➔ Citizen can scan the QR code anytime on their phone to see live progress without calling the station.</a:t>
            </a:r>
          </a:p>
          <a:p>
            <a:pPr>
              <a:spcBef>
                <a:spcPts val="8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Zero Physical Register Entry</a:t>
            </a:r>
            <a:br/>
            <a:r>
              <a:t>  ➔ Automates Moharrar manual diary register, eliminating handwritten errors.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96012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E5B953"/>
                </a:solidFill>
                <a:latin typeface="Georgia"/>
              </a:defRPr>
            </a:pPr>
            <a:r>
              <a:t>Circle Incharge: Scrutiny &amp; Officer Assignment</a:t>
            </a:r>
          </a:p>
          <a:p>
            <a:pPr>
              <a:spcBef>
                <a:spcPts val="400"/>
              </a:spcBef>
              <a:defRPr sz="1250" b="1">
                <a:solidFill>
                  <a:srgbClr val="38BDF8"/>
                </a:solidFill>
                <a:latin typeface="Segoe UI"/>
              </a:defRPr>
            </a:pPr>
            <a:r>
              <a:t>How Assistant Directors / DSPs Supervise and Delegate Incoming Cases</a:t>
            </a:r>
          </a:p>
        </p:txBody>
      </p:sp>
      <p:pic>
        <p:nvPicPr>
          <p:cNvPr id="4" name="Picture 3" descr="imag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274320"/>
            <a:ext cx="919655" cy="9601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31520" y="1508760"/>
            <a:ext cx="5257800" cy="4892040"/>
          </a:xfrm>
          <a:prstGeom prst="roundRect">
            <a:avLst/>
          </a:prstGeom>
          <a:solidFill>
            <a:srgbClr val="132444"/>
          </a:solidFill>
          <a:ln w="19050">
            <a:solidFill>
              <a:srgbClr val="294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73351"/>
            <a:ext cx="4800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E5B953"/>
                </a:solidFill>
                <a:latin typeface="Segoe UI"/>
              </a:defRPr>
            </a:pPr>
            <a:r>
              <a:t>⚖️ Legal Scrutiny of Complaints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103120"/>
            <a:ext cx="4800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✔ Review New Submissions: Incharge dashboard shows all complaints registered in the Circle with real-time pending counters.</a:t>
            </a:r>
          </a:p>
          <a:p>
            <a:pPr>
              <a:spcBef>
                <a:spcPts val="10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✔ Check Legal Cognizance: Verify if the offense falls under NCCIA cyber jurisdiction (PECA Act 2016 / Cyber Stalking / Banking Fraud).</a:t>
            </a:r>
          </a:p>
          <a:p>
            <a:pPr>
              <a:spcBef>
                <a:spcPts val="10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✔ Mark Scrutiny Result: Mark complaint as 'Valid &amp; Proceed' or 'Irrelevant / Civil Dispute' with official remarks.</a:t>
            </a:r>
          </a:p>
          <a:p>
            <a:pPr>
              <a:spcBef>
                <a:spcPts val="10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✔ Set Priority Level: Tag high-profile, financial embezzlement, or vulnerable victim cases as 'Urgent Priority'.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1508760"/>
            <a:ext cx="5257800" cy="4892040"/>
          </a:xfrm>
          <a:prstGeom prst="roundRect">
            <a:avLst/>
          </a:prstGeom>
          <a:solidFill>
            <a:srgbClr val="132444"/>
          </a:solidFill>
          <a:ln w="19050">
            <a:solidFill>
              <a:srgbClr val="294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28232" y="1673351"/>
            <a:ext cx="4800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  <a:latin typeface="Segoe UI"/>
              </a:defRPr>
            </a:pPr>
            <a:r>
              <a:t>👤 Direct Assignment to Verification Officer (VO)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28232" y="2103120"/>
            <a:ext cx="4800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✔ One-Click Officer Marking: Click 'Assign' next to the complaint. Select from active Circle Verification Officers (ASI / Sub-Inspector).</a:t>
            </a:r>
          </a:p>
          <a:p>
            <a:pPr>
              <a:spcBef>
                <a:spcPts val="10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✔ Instant VO Notification: Assigned officer immediately sees the new complaint in their pending investigation queue.</a:t>
            </a:r>
          </a:p>
          <a:p>
            <a:pPr>
              <a:spcBef>
                <a:spcPts val="10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✔ Automatic Assignment Slip Update: The 80mm complaint slip and A4 report automatically reflect the assigned officer's name for public transparency.</a:t>
            </a:r>
          </a:p>
          <a:p>
            <a:pPr>
              <a:spcBef>
                <a:spcPts val="10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✔ Timeline Tracking: Incharge monitors how many days a VO takes to submit the verification inquiry.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96012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E5B953"/>
                </a:solidFill>
                <a:latin typeface="Georgia"/>
              </a:defRPr>
            </a:pPr>
            <a:r>
              <a:t>Verification Officer: Field Inquiry &amp; 4 Outcomes</a:t>
            </a:r>
          </a:p>
          <a:p>
            <a:pPr>
              <a:spcBef>
                <a:spcPts val="400"/>
              </a:spcBef>
              <a:defRPr sz="1250" b="1">
                <a:solidFill>
                  <a:srgbClr val="38BDF8"/>
                </a:solidFill>
                <a:latin typeface="Segoe UI"/>
              </a:defRPr>
            </a:pPr>
            <a:r>
              <a:t>How VOs Conduct Preliminary Inquiries and Submit Official Findings</a:t>
            </a:r>
          </a:p>
        </p:txBody>
      </p:sp>
      <p:pic>
        <p:nvPicPr>
          <p:cNvPr id="4" name="Picture 3" descr="imag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274320"/>
            <a:ext cx="919655" cy="9601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31520" y="1508760"/>
            <a:ext cx="5257800" cy="4892040"/>
          </a:xfrm>
          <a:prstGeom prst="roundRect">
            <a:avLst/>
          </a:prstGeom>
          <a:solidFill>
            <a:srgbClr val="132444"/>
          </a:solidFill>
          <a:ln w="19050">
            <a:solidFill>
              <a:srgbClr val="294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73351"/>
            <a:ext cx="4800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0955D"/>
                </a:solidFill>
                <a:latin typeface="Segoe UI"/>
              </a:defRPr>
            </a:pPr>
            <a:r>
              <a:t>🔍 VO Investigation Procedure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103120"/>
            <a:ext cx="4800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1. Contact Complainant &amp; Accused</a:t>
            </a:r>
            <a:br/>
            <a:r>
              <a:t>  ➔ Call parties, record preliminary statements, and request supporting digital proof.</a:t>
            </a:r>
          </a:p>
          <a:p>
            <a:pPr>
              <a:spcBef>
                <a:spcPts val="8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2. Verify Financial &amp; CDR Trails</a:t>
            </a:r>
            <a:br/>
            <a:r>
              <a:t>  ➔ Verify bank transaction IDs, mobile wallet transfers (Easypaisa/JazzCash), and IP logs.</a:t>
            </a:r>
          </a:p>
          <a:p>
            <a:pPr>
              <a:spcBef>
                <a:spcPts val="8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3. Accused Profiling</a:t>
            </a:r>
            <a:br/>
            <a:r>
              <a:t>  ➔ Add accused bank accounts, mobile numbers, and social media handles into the accused record table.</a:t>
            </a:r>
          </a:p>
          <a:p>
            <a:pPr>
              <a:spcBef>
                <a:spcPts val="8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4. Prepare Verification Report</a:t>
            </a:r>
            <a:br/>
            <a:r>
              <a:t>  ➔ Write summary of inquiry and select 1 of 4 official recommendations for Incharge approval.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1508760"/>
            <a:ext cx="5257800" cy="4892040"/>
          </a:xfrm>
          <a:prstGeom prst="roundRect">
            <a:avLst/>
          </a:prstGeom>
          <a:solidFill>
            <a:srgbClr val="132444"/>
          </a:solidFill>
          <a:ln w="19050">
            <a:solidFill>
              <a:srgbClr val="294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28232" y="1673351"/>
            <a:ext cx="4800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E5B953"/>
                </a:solidFill>
                <a:latin typeface="Segoe UI"/>
              </a:defRPr>
            </a:pPr>
            <a:r>
              <a:t>📊 4 Official Verification Recommendations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28232" y="2103120"/>
            <a:ext cx="4800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100">
                <a:solidFill>
                  <a:srgbClr val="FFFFFF"/>
                </a:solidFill>
                <a:latin typeface="Segoe UI"/>
              </a:defRPr>
            </a:pPr>
            <a:r>
              <a:t>🔸 1. Register Enquiry (Recommended)</a:t>
            </a:r>
            <a:br/>
            <a:r>
              <a:t>    Digital evidence establishes prima facie offense. Case moves to Formal Enquiry Stage.</a:t>
            </a:r>
          </a:p>
          <a:p>
            <a:pPr>
              <a:spcBef>
                <a:spcPts val="800"/>
              </a:spcBef>
              <a:defRPr sz="1100">
                <a:solidFill>
                  <a:srgbClr val="FFFFFF"/>
                </a:solidFill>
                <a:latin typeface="Segoe UI"/>
              </a:defRPr>
            </a:pPr>
            <a:r>
              <a:t>🔸 2. Case Closure</a:t>
            </a:r>
            <a:br/>
            <a:r>
              <a:t>    Closed due to lack of evidence, non-pursuance by complainant, or mutual reconciliation.</a:t>
            </a:r>
          </a:p>
          <a:p>
            <a:pPr>
              <a:spcBef>
                <a:spcPts val="800"/>
              </a:spcBef>
              <a:defRPr sz="1100">
                <a:solidFill>
                  <a:srgbClr val="FFFFFF"/>
                </a:solidFill>
                <a:latin typeface="Segoe UI"/>
              </a:defRPr>
            </a:pPr>
            <a:r>
              <a:t>🔸 3. Merge with Primary Complaint</a:t>
            </a:r>
            <a:br/>
            <a:r>
              <a:t>    Accused is part of an ongoing syndicate already under active investigation in another complaint.</a:t>
            </a:r>
          </a:p>
          <a:p>
            <a:pPr>
              <a:spcBef>
                <a:spcPts val="800"/>
              </a:spcBef>
              <a:defRPr sz="1100">
                <a:solidFill>
                  <a:srgbClr val="FFFFFF"/>
                </a:solidFill>
                <a:latin typeface="Segoe UI"/>
              </a:defRPr>
            </a:pPr>
            <a:r>
              <a:t>🔸 4. Transfer to Other Circle / Agency</a:t>
            </a:r>
            <a:br/>
            <a:r>
              <a:t>    Offense occurred in another territorial Circle or belongs to Provincial Police / FIA / NAB.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96012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E5B953"/>
                </a:solidFill>
                <a:latin typeface="Georgia"/>
              </a:defRPr>
            </a:pPr>
            <a:r>
              <a:t>Investigation Officer (IO): Formal Enquiry &amp; Case Diaries</a:t>
            </a:r>
          </a:p>
          <a:p>
            <a:pPr>
              <a:spcBef>
                <a:spcPts val="400"/>
              </a:spcBef>
              <a:defRPr sz="1250" b="1">
                <a:solidFill>
                  <a:srgbClr val="38BDF8"/>
                </a:solidFill>
                <a:latin typeface="Segoe UI"/>
              </a:defRPr>
            </a:pPr>
            <a:r>
              <a:t>Managing Registered Enquiries, Section 160 CrPC Summons &amp; Case Diaries (Zimni)</a:t>
            </a:r>
          </a:p>
        </p:txBody>
      </p:sp>
      <p:pic>
        <p:nvPicPr>
          <p:cNvPr id="4" name="Picture 3" descr="imag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274320"/>
            <a:ext cx="919655" cy="9601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31520" y="1508760"/>
            <a:ext cx="5257800" cy="4892040"/>
          </a:xfrm>
          <a:prstGeom prst="roundRect">
            <a:avLst/>
          </a:prstGeom>
          <a:solidFill>
            <a:srgbClr val="132444"/>
          </a:solidFill>
          <a:ln w="19050">
            <a:solidFill>
              <a:srgbClr val="294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73351"/>
            <a:ext cx="4800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  <a:latin typeface="Segoe UI"/>
              </a:defRPr>
            </a:pPr>
            <a:r>
              <a:t>📂 Formal Enquiry Registration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103120"/>
            <a:ext cx="4800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✔ Enquiry Numbering: System assigns official Enquiry ID (e.g. #LHR-E-80519/26).</a:t>
            </a:r>
          </a:p>
          <a:p>
            <a:pPr>
              <a:spcBef>
                <a:spcPts val="10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✔ Assigned to Inspector / IO: IO takes complete charge of the statutory investigation dossier.</a:t>
            </a:r>
          </a:p>
          <a:p>
            <a:pPr>
              <a:spcBef>
                <a:spcPts val="10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✔ Bank &amp; Telecom Directives: IO records formal requests sent to State Bank, Commercial Banks, and Telcos for account freezing and CDR.</a:t>
            </a:r>
          </a:p>
          <a:p>
            <a:pPr>
              <a:spcBef>
                <a:spcPts val="10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✔ Evidence Vault: Uploads seized bank receipts, chat screenshots, and victim affidavits directly to the enquiry file.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1508760"/>
            <a:ext cx="5257800" cy="4892040"/>
          </a:xfrm>
          <a:prstGeom prst="roundRect">
            <a:avLst/>
          </a:prstGeom>
          <a:solidFill>
            <a:srgbClr val="132444"/>
          </a:solidFill>
          <a:ln w="19050">
            <a:solidFill>
              <a:srgbClr val="294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28232" y="1673351"/>
            <a:ext cx="4800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E5B953"/>
                </a:solidFill>
                <a:latin typeface="Segoe UI"/>
              </a:defRPr>
            </a:pPr>
            <a:r>
              <a:t>📖 Digital Case Diary (Zimni)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28232" y="2103120"/>
            <a:ext cx="4800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✔ Daily Progress Entries: IO enters chronological Zimni entries with date, diary number, and detailed investigation notes.</a:t>
            </a:r>
          </a:p>
          <a:p>
            <a:pPr>
              <a:spcBef>
                <a:spcPts val="10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✔ Tamper-Proof Timestamps: System locks diary timestamps, preventing retroactive tampering and ensuring court admissibility.</a:t>
            </a:r>
          </a:p>
          <a:p>
            <a:pPr>
              <a:spcBef>
                <a:spcPts val="10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✔ A4 Printable Zimni Dossier: 1-click generation of complete case diary history for submission to Circle Incharge or High Court.</a:t>
            </a:r>
          </a:p>
          <a:p>
            <a:pPr>
              <a:spcBef>
                <a:spcPts val="10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✔ Final Case Report (CFR): IO compiles Case Final Report with findings for FIR registration.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96012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E5B953"/>
                </a:solidFill>
                <a:latin typeface="Georgia"/>
              </a:defRPr>
            </a:pPr>
            <a:r>
              <a:t>Legal Notices Generator: Section 160 CrPC Summons</a:t>
            </a:r>
          </a:p>
          <a:p>
            <a:pPr>
              <a:spcBef>
                <a:spcPts val="400"/>
              </a:spcBef>
              <a:defRPr sz="1250" b="1">
                <a:solidFill>
                  <a:srgbClr val="38BDF8"/>
                </a:solidFill>
                <a:latin typeface="Segoe UI"/>
              </a:defRPr>
            </a:pPr>
            <a:r>
              <a:t>Instant Generation of Statutory Appearance Notices in Thermal &amp; A4 Formats</a:t>
            </a:r>
          </a:p>
        </p:txBody>
      </p:sp>
      <p:pic>
        <p:nvPicPr>
          <p:cNvPr id="4" name="Picture 3" descr="imag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274320"/>
            <a:ext cx="919655" cy="9601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31520" y="1508760"/>
            <a:ext cx="5257800" cy="4892040"/>
          </a:xfrm>
          <a:prstGeom prst="roundRect">
            <a:avLst/>
          </a:prstGeom>
          <a:solidFill>
            <a:srgbClr val="132444"/>
          </a:solidFill>
          <a:ln w="19050">
            <a:solidFill>
              <a:srgbClr val="294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73351"/>
            <a:ext cx="4800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E5B953"/>
                </a:solidFill>
                <a:latin typeface="Segoe UI"/>
              </a:defRPr>
            </a:pPr>
            <a:r>
              <a:t>📜 Statutory Notice Features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103120"/>
            <a:ext cx="4800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🔹 Section 160 CrPC Compliance: Generates legally binding call-up notices for accused and material witnesses.</a:t>
            </a:r>
          </a:p>
          <a:p>
            <a:pPr>
              <a:spcBef>
                <a:spcPts val="10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🔹 Automated Officer &amp; Station Details: Auto-populates Circle Name, IO Name, Station Address, Date &amp; Time of required appearance.</a:t>
            </a:r>
          </a:p>
          <a:p>
            <a:pPr>
              <a:spcBef>
                <a:spcPts val="10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🔹 Anti-Fraud QR Verification: Includes secure QR verification URL so recipient can verify the notice is genuine and issued by NCCIA.</a:t>
            </a:r>
          </a:p>
          <a:p>
            <a:pPr>
              <a:spcBef>
                <a:spcPts val="10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🔹 Service Tracking: Records delivery method (By Hand / Registered Post / WhatsApp / Courier) and recipient acknowledgment.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1508760"/>
            <a:ext cx="5257800" cy="4892040"/>
          </a:xfrm>
          <a:prstGeom prst="roundRect">
            <a:avLst/>
          </a:prstGeom>
          <a:solidFill>
            <a:srgbClr val="132444"/>
          </a:solidFill>
          <a:ln w="19050">
            <a:solidFill>
              <a:srgbClr val="294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28232" y="1673351"/>
            <a:ext cx="4800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  <a:latin typeface="Segoe UI"/>
              </a:defRPr>
            </a:pPr>
            <a:r>
              <a:t>🖨️ Dual Print Modes (80mm &amp; A4)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28232" y="2103120"/>
            <a:ext cx="4800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🔹 80mm Thermal Field Notice: Compact, high-speed thermal notice printed instantly at the desk for hand-to-hand delivery by field officers.</a:t>
            </a:r>
          </a:p>
          <a:p>
            <a:pPr>
              <a:spcBef>
                <a:spcPts val="10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🔹 A4 Formal Legal Notice: Full official letterhead notice complete with NCCIA seal, legal warning, signature boxes, and duplicate copy for case file.</a:t>
            </a:r>
          </a:p>
          <a:p>
            <a:pPr>
              <a:spcBef>
                <a:spcPts val="10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🔹 WhatsApp Electronic Notice: Direct transmission of official summons to recipient's mobile with automatic timestamp logging.</a:t>
            </a:r>
          </a:p>
          <a:p>
            <a:pPr>
              <a:spcBef>
                <a:spcPts val="10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🔹 Eliminates Notice Drafting Time: Reduces notice creation from 15 minutes of typing to 1 single click.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96012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E5B953"/>
                </a:solidFill>
                <a:latin typeface="Georgia"/>
              </a:defRPr>
            </a:pPr>
            <a:r>
              <a:t>Digital Forensic Unit: Evidence Chain of Custody</a:t>
            </a:r>
          </a:p>
          <a:p>
            <a:pPr>
              <a:spcBef>
                <a:spcPts val="400"/>
              </a:spcBef>
              <a:defRPr sz="1250" b="1">
                <a:solidFill>
                  <a:srgbClr val="38BDF8"/>
                </a:solidFill>
                <a:latin typeface="Segoe UI"/>
              </a:defRPr>
            </a:pPr>
            <a:r>
              <a:t>Segregated Lab Portal for Mobile, Computer &amp; Cloud Evidence Examination</a:t>
            </a:r>
          </a:p>
        </p:txBody>
      </p:sp>
      <p:pic>
        <p:nvPicPr>
          <p:cNvPr id="4" name="Picture 3" descr="imag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274320"/>
            <a:ext cx="919655" cy="9601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31520" y="1508760"/>
            <a:ext cx="5257800" cy="4892040"/>
          </a:xfrm>
          <a:prstGeom prst="roundRect">
            <a:avLst/>
          </a:prstGeom>
          <a:solidFill>
            <a:srgbClr val="132444"/>
          </a:solidFill>
          <a:ln w="19050">
            <a:solidFill>
              <a:srgbClr val="294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73351"/>
            <a:ext cx="4800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  <a:latin typeface="Segoe UI"/>
              </a:defRPr>
            </a:pPr>
            <a:r>
              <a:t>🔬 Evidence Intake &amp; Chain of Custody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103120"/>
            <a:ext cx="4800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✔ Seized Device Intake: IO submits seized phones, laptops, USB drives, or DVRs with parcel and seal details.</a:t>
            </a:r>
          </a:p>
          <a:p>
            <a:pPr>
              <a:spcBef>
                <a:spcPts val="10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✔ Cryptographic Hash Calculation: Records MD5 and SHA256 hashes upon intake to ensure zero evidence alteration.</a:t>
            </a:r>
          </a:p>
          <a:p>
            <a:pPr>
              <a:spcBef>
                <a:spcPts val="10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✔ Segregated Forensic Portal: Forensic examiners access a dedicated /forensic interface without interfering with IO case files.</a:t>
            </a:r>
          </a:p>
          <a:p>
            <a:pPr>
              <a:spcBef>
                <a:spcPts val="10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✔ Hardware &amp; OS Metadata: Records IMEI, Serial Numbers, OS Version, and device condition.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1508760"/>
            <a:ext cx="5257800" cy="4892040"/>
          </a:xfrm>
          <a:prstGeom prst="roundRect">
            <a:avLst/>
          </a:prstGeom>
          <a:solidFill>
            <a:srgbClr val="132444"/>
          </a:solidFill>
          <a:ln w="19050">
            <a:solidFill>
              <a:srgbClr val="294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28232" y="1673351"/>
            <a:ext cx="4800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E5B953"/>
                </a:solidFill>
                <a:latin typeface="Segoe UI"/>
              </a:defRPr>
            </a:pPr>
            <a:r>
              <a:t>📑 Forensic Examination Report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28232" y="2103120"/>
            <a:ext cx="4800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✔ Extraction Findings: Forensic specialist documents recovered WhatsApp chats, deleted call logs, crypto transactions, and financial artifacts.</a:t>
            </a:r>
          </a:p>
          <a:p>
            <a:pPr>
              <a:spcBef>
                <a:spcPts val="10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✔ Digital Certificate Attachment: System generates official Forensic Report signed with examiner's digital signature.</a:t>
            </a:r>
          </a:p>
          <a:p>
            <a:pPr>
              <a:spcBef>
                <a:spcPts val="10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✔ Direct Attachment to Case File: Report automatically links to the primary Enquiry/FIR file for court presentation.</a:t>
            </a:r>
          </a:p>
          <a:p>
            <a:pPr>
              <a:spcBef>
                <a:spcPts val="10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✔ Strict Chain-of-Custody Log: Records who handled the evidence, date, time, and room storage location.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96012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E5B953"/>
                </a:solidFill>
                <a:latin typeface="Georgia"/>
              </a:defRPr>
            </a:pPr>
            <a:r>
              <a:t>Case File (FIR) &amp; Court Prosecution Tracking</a:t>
            </a:r>
          </a:p>
          <a:p>
            <a:pPr>
              <a:spcBef>
                <a:spcPts val="400"/>
              </a:spcBef>
              <a:defRPr sz="1250" b="1">
                <a:solidFill>
                  <a:srgbClr val="38BDF8"/>
                </a:solidFill>
                <a:latin typeface="Segoe UI"/>
              </a:defRPr>
            </a:pPr>
            <a:r>
              <a:t>From FIR Registration and Challan Submission to Final Court Verdict</a:t>
            </a:r>
          </a:p>
        </p:txBody>
      </p:sp>
      <p:pic>
        <p:nvPicPr>
          <p:cNvPr id="4" name="Picture 3" descr="imag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274320"/>
            <a:ext cx="919655" cy="9601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31520" y="1508760"/>
            <a:ext cx="5257800" cy="4892040"/>
          </a:xfrm>
          <a:prstGeom prst="roundRect">
            <a:avLst/>
          </a:prstGeom>
          <a:solidFill>
            <a:srgbClr val="132444"/>
          </a:solidFill>
          <a:ln w="19050">
            <a:solidFill>
              <a:srgbClr val="294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73351"/>
            <a:ext cx="4800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E5B953"/>
                </a:solidFill>
                <a:latin typeface="Segoe UI"/>
              </a:defRPr>
            </a:pPr>
            <a:r>
              <a:t>⚖️ FIR Registration &amp; Challan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103120"/>
            <a:ext cx="4800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🔸 FIR Creation: Upon approval of CFR by Incharge/DG, system registers formal Case File with FIR Number (e.g. FIR # 12/26).</a:t>
            </a:r>
          </a:p>
          <a:p>
            <a:pPr>
              <a:spcBef>
                <a:spcPts val="10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🔸 Challan Preparation (Section 173 CrPC): Prosecution branch tracks Challan drafting, scrutiny, and submission date to Special Cyber Court.</a:t>
            </a:r>
          </a:p>
          <a:p>
            <a:pPr>
              <a:spcBef>
                <a:spcPts val="10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🔸 Accused In Custody / Bail: Tracks status of arrested suspects (Physical Remand, Judicial Lockup, Interim Bail, Proclaimed Offender).</a:t>
            </a:r>
          </a:p>
          <a:p>
            <a:pPr>
              <a:spcBef>
                <a:spcPts val="10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🔸 Seized Assets &amp; Case Property: Maintains register of frozen bank funds, recovered cash, and impounded vehicles.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1508760"/>
            <a:ext cx="5257800" cy="4892040"/>
          </a:xfrm>
          <a:prstGeom prst="roundRect">
            <a:avLst/>
          </a:prstGeom>
          <a:solidFill>
            <a:srgbClr val="132444"/>
          </a:solidFill>
          <a:ln w="19050">
            <a:solidFill>
              <a:srgbClr val="294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28232" y="1673351"/>
            <a:ext cx="4800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0955D"/>
                </a:solidFill>
                <a:latin typeface="Segoe UI"/>
              </a:defRPr>
            </a:pPr>
            <a:r>
              <a:t>🏛️ Court Hearings &amp; Final Verdicts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28232" y="2103120"/>
            <a:ext cx="4800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🔸 Hearing Calendar: Automated alert for upcoming court appearance dates, IO witness cross-examinations, and prosecutor notes.</a:t>
            </a:r>
          </a:p>
          <a:p>
            <a:pPr>
              <a:spcBef>
                <a:spcPts val="10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🔸 Bail Application Tracking: Records Pre-Arrest and Post-Arrest bail decisions with judge orders.</a:t>
            </a:r>
          </a:p>
          <a:p>
            <a:pPr>
              <a:spcBef>
                <a:spcPts val="10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🔸 Final Verdict Recording: Records final court judgment: Conviction (Prison Term &amp; Fines), Acquittal, or Compromise.</a:t>
            </a:r>
          </a:p>
          <a:p>
            <a:pPr>
              <a:spcBef>
                <a:spcPts val="10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🔸 Recovery &amp; Restitution: Logs refunded amounts returned to scam victims through court directives.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96012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E5B953"/>
                </a:solidFill>
                <a:latin typeface="Georgia"/>
              </a:defRPr>
            </a:pPr>
            <a:r>
              <a:t>10 Lakh Historical Case Records Reference</a:t>
            </a:r>
          </a:p>
          <a:p>
            <a:pPr>
              <a:spcBef>
                <a:spcPts val="400"/>
              </a:spcBef>
              <a:defRPr sz="1250" b="1">
                <a:solidFill>
                  <a:srgbClr val="38BDF8"/>
                </a:solidFill>
                <a:latin typeface="Segoe UI"/>
              </a:defRPr>
            </a:pPr>
            <a:r>
              <a:t>Instant Cross-Search Across Millions of Past FIRs, Enquiries &amp; Scammer Accounts</a:t>
            </a:r>
          </a:p>
        </p:txBody>
      </p:sp>
      <p:pic>
        <p:nvPicPr>
          <p:cNvPr id="4" name="Picture 3" descr="imag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274320"/>
            <a:ext cx="919655" cy="9601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31520" y="1508760"/>
            <a:ext cx="5257800" cy="4892040"/>
          </a:xfrm>
          <a:prstGeom prst="roundRect">
            <a:avLst/>
          </a:prstGeom>
          <a:solidFill>
            <a:srgbClr val="132444"/>
          </a:solidFill>
          <a:ln w="19050">
            <a:solidFill>
              <a:srgbClr val="294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73351"/>
            <a:ext cx="4800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  <a:latin typeface="Segoe UI"/>
              </a:defRPr>
            </a:pPr>
            <a:r>
              <a:t>🔍 Instant Multi-Parameter Search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103120"/>
            <a:ext cx="4800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✔ Search by CNIC: Enter suspect or complainant CNIC to instantly pull their complete history across all Pakistan Circles.</a:t>
            </a:r>
          </a:p>
          <a:p>
            <a:pPr>
              <a:spcBef>
                <a:spcPts val="10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✔ Search by Bank Account / IBAN: Detect if a scammer's bank account was involved in previous cyber fraud complaints in Karachi, Lahore, or Islamabad.</a:t>
            </a:r>
          </a:p>
          <a:p>
            <a:pPr>
              <a:spcBef>
                <a:spcPts val="10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✔ Search by Phone / WhatsApp: Check call history, reported WhatsApp numbers, and suspect aliases.</a:t>
            </a:r>
          </a:p>
          <a:p>
            <a:pPr>
              <a:spcBef>
                <a:spcPts val="10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✔ Search by Historical Tracking ID: Retrieve old legacy scanned files from the 10 Lakh historical database in milliseconds.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1508760"/>
            <a:ext cx="5257800" cy="4892040"/>
          </a:xfrm>
          <a:prstGeom prst="roundRect">
            <a:avLst/>
          </a:prstGeom>
          <a:solidFill>
            <a:srgbClr val="132444"/>
          </a:solidFill>
          <a:ln w="19050">
            <a:solidFill>
              <a:srgbClr val="294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28232" y="1673351"/>
            <a:ext cx="4800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E5B953"/>
                </a:solidFill>
                <a:latin typeface="Segoe UI"/>
              </a:defRPr>
            </a:pPr>
            <a:r>
              <a:t>📁 Fast Historical Ingestion Pipeline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28232" y="2103120"/>
            <a:ext cx="4800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✔ Hierarchical Folder Structure: Historical files structured by Circle ➔ IO ➔ Moharar are automatically cataloged.</a:t>
            </a:r>
          </a:p>
          <a:p>
            <a:pPr>
              <a:spcBef>
                <a:spcPts val="10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✔ Zero Storage Duplication: In-place referencing preserves server disk space while making 10 Lakh files searchable.</a:t>
            </a:r>
          </a:p>
          <a:p>
            <a:pPr>
              <a:spcBef>
                <a:spcPts val="10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✔ Historical Verification Reports: Officers can open and read original legacy PDF reports with 1 click from their desk.</a:t>
            </a:r>
          </a:p>
          <a:p>
            <a:pPr>
              <a:spcBef>
                <a:spcPts val="10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✔ Syndicate Detection: Cross-references past and present accused profiles to expose repeat cyber crime networks.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96012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E5B953"/>
                </a:solidFill>
                <a:latin typeface="Georgia"/>
              </a:defRPr>
            </a:pPr>
            <a:r>
              <a:t>Circle Performance Monitoring &amp; Accountability</a:t>
            </a:r>
          </a:p>
          <a:p>
            <a:pPr>
              <a:spcBef>
                <a:spcPts val="400"/>
              </a:spcBef>
              <a:defRPr sz="1250" b="1">
                <a:solidFill>
                  <a:srgbClr val="38BDF8"/>
                </a:solidFill>
                <a:latin typeface="Segoe UI"/>
              </a:defRPr>
            </a:pPr>
            <a:r>
              <a:t>Real-Time Executive Dashboards for Incharges, Regional Directors &amp; Headquarters</a:t>
            </a:r>
          </a:p>
        </p:txBody>
      </p:sp>
      <p:pic>
        <p:nvPicPr>
          <p:cNvPr id="4" name="Picture 3" descr="imag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274320"/>
            <a:ext cx="919655" cy="9601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31520" y="1508760"/>
            <a:ext cx="5257800" cy="4892040"/>
          </a:xfrm>
          <a:prstGeom prst="roundRect">
            <a:avLst/>
          </a:prstGeom>
          <a:solidFill>
            <a:srgbClr val="132444"/>
          </a:solidFill>
          <a:ln w="19050">
            <a:solidFill>
              <a:srgbClr val="294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73351"/>
            <a:ext cx="4800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E5B953"/>
                </a:solidFill>
                <a:latin typeface="Segoe UI"/>
              </a:defRPr>
            </a:pPr>
            <a:r>
              <a:t>📊 Real-Time Circle KPIs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103120"/>
            <a:ext cx="4800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📈 Total Intake vs Disposal Rate: Visual representation of complaints registered vs inquiries finalized per month.</a:t>
            </a:r>
          </a:p>
          <a:p>
            <a:pPr>
              <a:spcBef>
                <a:spcPts val="10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📈 Average Resolution Days: Tracks average days taken by each Circle and Officer to complete investigations.</a:t>
            </a:r>
          </a:p>
          <a:p>
            <a:pPr>
              <a:spcBef>
                <a:spcPts val="10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📈 Crime Category Distribution: Live breakdown of Financial Frauds, Harassment, Identity Theft, and PPC 414 cases.</a:t>
            </a:r>
          </a:p>
          <a:p>
            <a:pPr>
              <a:spcBef>
                <a:spcPts val="10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📈 Recovery Metrics: Total defrauded money recovered and returned to citizens.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1508760"/>
            <a:ext cx="5257800" cy="4892040"/>
          </a:xfrm>
          <a:prstGeom prst="roundRect">
            <a:avLst/>
          </a:prstGeom>
          <a:solidFill>
            <a:srgbClr val="132444"/>
          </a:solidFill>
          <a:ln w="19050">
            <a:solidFill>
              <a:srgbClr val="294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28232" y="1673351"/>
            <a:ext cx="4800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  <a:latin typeface="Segoe UI"/>
              </a:defRPr>
            </a:pPr>
            <a:r>
              <a:t>🛡️ Officer Login &amp; Security Audit Trail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28232" y="2103120"/>
            <a:ext cx="4800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🛡️ Real-Time IP Logging: Tracks connecting IP, Real Origin IP, and login timestamps for every officer session.</a:t>
            </a:r>
          </a:p>
          <a:p>
            <a:pPr>
              <a:spcBef>
                <a:spcPts val="10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🛡️ Spoof &amp; Unauthorized Access Alerts: Flags any suspicious proxy or VPN usage instantly on the security dashboard.</a:t>
            </a:r>
          </a:p>
          <a:p>
            <a:pPr>
              <a:spcBef>
                <a:spcPts val="10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🛡️ Action History Audit: Every status update, case assignment, report submission, and notice print is recorded with user stamp.</a:t>
            </a:r>
          </a:p>
          <a:p>
            <a:pPr>
              <a:spcBef>
                <a:spcPts val="10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🛡️ Zero Unauthorized Alteration: Ensures high institutional discipline and security compliance.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96012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E5B953"/>
                </a:solidFill>
                <a:latin typeface="Georgia"/>
              </a:defRPr>
            </a:pPr>
            <a:r>
              <a:t>Live Practical Demonstration Guide</a:t>
            </a:r>
          </a:p>
          <a:p>
            <a:pPr>
              <a:spcBef>
                <a:spcPts val="400"/>
              </a:spcBef>
              <a:defRPr sz="1250" b="1">
                <a:solidFill>
                  <a:srgbClr val="38BDF8"/>
                </a:solidFill>
                <a:latin typeface="Segoe UI"/>
              </a:defRPr>
            </a:pPr>
            <a:r>
              <a:t>Step-by-Step Practical Demonstration for Officers &amp; Leadership</a:t>
            </a:r>
          </a:p>
        </p:txBody>
      </p:sp>
      <p:pic>
        <p:nvPicPr>
          <p:cNvPr id="4" name="Picture 3" descr="imag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274320"/>
            <a:ext cx="919655" cy="9601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31520" y="1508760"/>
            <a:ext cx="5257800" cy="1481328"/>
          </a:xfrm>
          <a:prstGeom prst="roundRect">
            <a:avLst/>
          </a:prstGeom>
          <a:solidFill>
            <a:srgbClr val="132444"/>
          </a:solidFill>
          <a:ln w="19050">
            <a:solidFill>
              <a:srgbClr val="294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73351"/>
            <a:ext cx="4800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E5B953"/>
                </a:solidFill>
                <a:latin typeface="Segoe UI"/>
              </a:defRPr>
            </a:pPr>
            <a:r>
              <a:t>1. Desk Operator Demo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48920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FFFFFF"/>
                </a:solidFill>
                <a:latin typeface="Segoe UI"/>
              </a:defRPr>
            </a:pPr>
            <a:r>
              <a:t>Open /complaints/create ➔ Auto-fill from sample report ➔ Register complaint #0004/26 ➔ Print 80mm thermal slip with VO name &amp; QR ➔ Send WhatsApp alert.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1508760"/>
            <a:ext cx="5257800" cy="1481328"/>
          </a:xfrm>
          <a:prstGeom prst="roundRect">
            <a:avLst/>
          </a:prstGeom>
          <a:solidFill>
            <a:srgbClr val="132444"/>
          </a:solidFill>
          <a:ln w="19050">
            <a:solidFill>
              <a:srgbClr val="294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28232" y="1673351"/>
            <a:ext cx="4800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  <a:latin typeface="Segoe UI"/>
              </a:defRPr>
            </a:pPr>
            <a:r>
              <a:t>2. Circle Incharge Demo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82512" y="1965960"/>
            <a:ext cx="48920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FFFFFF"/>
                </a:solidFill>
                <a:latin typeface="Segoe UI"/>
              </a:defRPr>
            </a:pPr>
            <a:r>
              <a:t>Open Dashboard ➔ Review pending complaints ➔ Assign Verification Officer (VO) with High Priority tag.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154680"/>
            <a:ext cx="5257800" cy="1481328"/>
          </a:xfrm>
          <a:prstGeom prst="roundRect">
            <a:avLst/>
          </a:prstGeom>
          <a:solidFill>
            <a:srgbClr val="132444"/>
          </a:solidFill>
          <a:ln w="19050">
            <a:solidFill>
              <a:srgbClr val="294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319272"/>
            <a:ext cx="4800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  <a:latin typeface="Segoe UI"/>
              </a:defRPr>
            </a:pPr>
            <a:r>
              <a:t>3. VO Inquiry Demo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611880"/>
            <a:ext cx="48920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FFFFFF"/>
                </a:solidFill>
                <a:latin typeface="Segoe UI"/>
              </a:defRPr>
            </a:pPr>
            <a:r>
              <a:t>VO reviews case evidence ➔ Records preliminary findings ➔ Selects Register Enquiry recommendation ➔ Submits report.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3154680"/>
            <a:ext cx="5257800" cy="1481328"/>
          </a:xfrm>
          <a:prstGeom prst="roundRect">
            <a:avLst/>
          </a:prstGeom>
          <a:solidFill>
            <a:srgbClr val="132444"/>
          </a:solidFill>
          <a:ln w="19050">
            <a:solidFill>
              <a:srgbClr val="294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8232" y="3319272"/>
            <a:ext cx="4800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  <a:latin typeface="Segoe UI"/>
              </a:defRPr>
            </a:pPr>
            <a:r>
              <a:t>4. IO Enquiry &amp; Notice Demo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82512" y="3611880"/>
            <a:ext cx="48920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FFFFFF"/>
                </a:solidFill>
                <a:latin typeface="Segoe UI"/>
              </a:defRPr>
            </a:pPr>
            <a:r>
              <a:t>IO opens registered enquiry #LHR-E-80519/26 ➔ Generates Section 160 CrPC Legal Notice (80mm &amp; A4) ➔ Enters daily Case Diary (Zimni).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800600"/>
            <a:ext cx="5257800" cy="1481328"/>
          </a:xfrm>
          <a:prstGeom prst="roundRect">
            <a:avLst/>
          </a:prstGeom>
          <a:solidFill>
            <a:srgbClr val="132444"/>
          </a:solidFill>
          <a:ln w="19050">
            <a:solidFill>
              <a:srgbClr val="294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4965192"/>
            <a:ext cx="4800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  <a:latin typeface="Segoe UI"/>
              </a:defRPr>
            </a:pPr>
            <a:r>
              <a:t>5. Forensic Lab Demo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257800"/>
            <a:ext cx="48920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FFFFFF"/>
                </a:solidFill>
                <a:latin typeface="Segoe UI"/>
              </a:defRPr>
            </a:pPr>
            <a:r>
              <a:t>Open /forensic ➔ Review evidence item ➔ Verify hash ➔ Attach Forensic Examination Certificate.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99632" y="4800600"/>
            <a:ext cx="5257800" cy="1481328"/>
          </a:xfrm>
          <a:prstGeom prst="roundRect">
            <a:avLst/>
          </a:prstGeom>
          <a:solidFill>
            <a:srgbClr val="132444"/>
          </a:solidFill>
          <a:ln w="19050">
            <a:solidFill>
              <a:srgbClr val="294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28232" y="4965192"/>
            <a:ext cx="4800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  <a:latin typeface="Segoe UI"/>
              </a:defRPr>
            </a:pPr>
            <a:r>
              <a:t>6. Security &amp; Audit Demo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82512" y="5257800"/>
            <a:ext cx="48920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FFFFFF"/>
                </a:solidFill>
                <a:latin typeface="Segoe UI"/>
              </a:defRPr>
            </a:pPr>
            <a:r>
              <a:t>Open /login-history ➔ Search IP address ➔ Demonstrate live audit trail and real IP verification.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96012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E5B953"/>
                </a:solidFill>
                <a:latin typeface="Georgia"/>
              </a:defRPr>
            </a:pPr>
            <a:r>
              <a:t>Standard Operating Procedures (SOPs) &amp; Next Steps</a:t>
            </a:r>
          </a:p>
          <a:p>
            <a:pPr>
              <a:spcBef>
                <a:spcPts val="400"/>
              </a:spcBef>
              <a:defRPr sz="1250" b="1">
                <a:solidFill>
                  <a:srgbClr val="38BDF8"/>
                </a:solidFill>
                <a:latin typeface="Segoe UI"/>
              </a:defRPr>
            </a:pPr>
            <a:r>
              <a:t>Guidelines for Full Agency Rollout Across All Circles Nationwide</a:t>
            </a:r>
          </a:p>
        </p:txBody>
      </p:sp>
      <p:pic>
        <p:nvPicPr>
          <p:cNvPr id="4" name="Picture 3" descr="imag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274320"/>
            <a:ext cx="919655" cy="9601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31520" y="1508760"/>
            <a:ext cx="10728655" cy="4892040"/>
          </a:xfrm>
          <a:prstGeom prst="roundRect">
            <a:avLst/>
          </a:prstGeom>
          <a:solidFill>
            <a:srgbClr val="132444"/>
          </a:solidFill>
          <a:ln w="19050">
            <a:solidFill>
              <a:srgbClr val="294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73351"/>
            <a:ext cx="102714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E5B953"/>
                </a:solidFill>
                <a:latin typeface="Segoe UI"/>
              </a:defRPr>
            </a:pPr>
            <a:r>
              <a:t>🎖️ Standards of Official Operational Excellence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10180015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300" b="1">
                <a:solidFill>
                  <a:srgbClr val="FFFFFF"/>
                </a:solidFill>
                <a:latin typeface="Segoe UI"/>
              </a:defRPr>
            </a:pPr>
            <a:r>
              <a:t>⭐ Mandatory 80mm Receipt Issuance: Every complainant visiting an NCCIA station must receive a printed 80mm thermal receipt with tracking QR code.</a:t>
            </a:r>
          </a:p>
          <a:p>
            <a:pPr>
              <a:spcBef>
                <a:spcPts val="1200"/>
              </a:spcBef>
              <a:defRPr sz="1300" b="1">
                <a:solidFill>
                  <a:srgbClr val="FFFFFF"/>
                </a:solidFill>
                <a:latin typeface="Segoe UI"/>
              </a:defRPr>
            </a:pPr>
            <a:r>
              <a:t>⭐ 24-Hour Scrutiny Turnaround: Circle Incharges must review and assign complaints within 24 hours of front desk registration.</a:t>
            </a:r>
          </a:p>
          <a:p>
            <a:pPr>
              <a:spcBef>
                <a:spcPts val="1200"/>
              </a:spcBef>
              <a:defRPr sz="1300" b="1">
                <a:solidFill>
                  <a:srgbClr val="FFFFFF"/>
                </a:solidFill>
                <a:latin typeface="Segoe UI"/>
              </a:defRPr>
            </a:pPr>
            <a:r>
              <a:t>⭐ Daily Case Diary (Zimni) Compliance: Investigation Officers must enter daily progress in the digital diary to ensure strict court admissibility.</a:t>
            </a:r>
          </a:p>
          <a:p>
            <a:pPr>
              <a:spcBef>
                <a:spcPts val="1200"/>
              </a:spcBef>
              <a:defRPr sz="1300" b="1">
                <a:solidFill>
                  <a:srgbClr val="FFFFFF"/>
                </a:solidFill>
                <a:latin typeface="Segoe UI"/>
              </a:defRPr>
            </a:pPr>
            <a:r>
              <a:t>⭐ Zero Paper Dossier Mandate: All bank correspondence, evidence items, and notices must be uploaded to the central digital dossier.</a:t>
            </a:r>
          </a:p>
          <a:p>
            <a:pPr>
              <a:spcBef>
                <a:spcPts val="1200"/>
              </a:spcBef>
              <a:defRPr sz="1300" b="1">
                <a:solidFill>
                  <a:srgbClr val="FFFFFF"/>
                </a:solidFill>
                <a:latin typeface="Segoe UI"/>
              </a:defRPr>
            </a:pPr>
            <a:r>
              <a:t>⭐ Accountability &amp; Citizen Service: Direct WhatsApp tracking and transparency empower citizens and strengthen public confidence in NCCIA.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